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 id="277" r:id="rId23"/>
    <p:sldId id="281" r:id="rId24"/>
    <p:sldId id="282" r:id="rId25"/>
    <p:sldId id="283" r:id="rId26"/>
    <p:sldId id="284" r:id="rId27"/>
    <p:sldId id="285" r:id="rId28"/>
    <p:sldId id="286" r:id="rId29"/>
    <p:sldId id="278" r:id="rId30"/>
    <p:sldId id="287" r:id="rId31"/>
    <p:sldId id="288" r:id="rId32"/>
    <p:sldId id="289" r:id="rId33"/>
    <p:sldId id="290" r:id="rId34"/>
    <p:sldId id="291" r:id="rId35"/>
    <p:sldId id="292" r:id="rId36"/>
    <p:sldId id="293" r:id="rId37"/>
    <p:sldId id="294" r:id="rId38"/>
    <p:sldId id="295" r:id="rId39"/>
    <p:sldId id="296" r:id="rId40"/>
    <p:sldId id="279" r:id="rId41"/>
    <p:sldId id="280"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4" autoAdjust="0"/>
    <p:restoredTop sz="94660"/>
  </p:normalViewPr>
  <p:slideViewPr>
    <p:cSldViewPr snapToGrid="0">
      <p:cViewPr varScale="1">
        <p:scale>
          <a:sx n="115" d="100"/>
          <a:sy n="115" d="100"/>
        </p:scale>
        <p:origin x="-432" y="-11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cstate="print">
            <a:alphaModFix amt="30000"/>
            <a:duotone>
              <a:prstClr val="black"/>
              <a:schemeClr val="tx2">
                <a:tint val="45000"/>
                <a:satMod val="400000"/>
              </a:schemeClr>
            </a:duotone>
            <a:extLst>
              <a:ext uri="{28A0092B-C50C-407E-A947-70E740481C1C}">
                <a14:useLocalDpi xmlns:a14="http://schemas.microsoft.com/office/drawing/2010/main" xmlns=""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8AC0055-ECE8-4068-B2EC-ECE486CE2461}" type="datetimeFigureOut">
              <a:rPr lang="en-US" smtClean="0"/>
              <a:pPr/>
              <a:t>3/31/2025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607696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AC0055-ECE8-4068-B2EC-ECE486CE2461}" type="datetimeFigureOut">
              <a:rPr lang="en-US" smtClean="0"/>
              <a:pPr/>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962432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AC0055-ECE8-4068-B2EC-ECE486CE2461}" type="datetimeFigureOut">
              <a:rPr lang="en-US" smtClean="0"/>
              <a:pPr/>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1461545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AC0055-ECE8-4068-B2EC-ECE486CE2461}" type="datetimeFigureOut">
              <a:rPr lang="en-US" smtClean="0"/>
              <a:pPr/>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1961254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AC0055-ECE8-4068-B2EC-ECE486CE2461}" type="datetimeFigureOut">
              <a:rPr lang="en-US" smtClean="0"/>
              <a:pPr/>
              <a:t>3/31/2025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1454368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AC0055-ECE8-4068-B2EC-ECE486CE2461}" type="datetimeFigureOut">
              <a:rPr lang="en-US" smtClean="0"/>
              <a:pPr/>
              <a:t>3/31/2025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545656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AC0055-ECE8-4068-B2EC-ECE486CE2461}" type="datetimeFigureOut">
              <a:rPr lang="en-US" smtClean="0"/>
              <a:pPr/>
              <a:t>3/31/2025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387078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AC0055-ECE8-4068-B2EC-ECE486CE2461}" type="datetimeFigureOut">
              <a:rPr lang="en-US" smtClean="0"/>
              <a:pPr/>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3920485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AC0055-ECE8-4068-B2EC-ECE486CE2461}" type="datetimeFigureOut">
              <a:rPr lang="en-US" smtClean="0"/>
              <a:pPr/>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475515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AC0055-ECE8-4068-B2EC-ECE486CE2461}" type="datetimeFigureOut">
              <a:rPr lang="en-US" smtClean="0"/>
              <a:pPr/>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945466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AC0055-ECE8-4068-B2EC-ECE486CE2461}" type="datetimeFigureOut">
              <a:rPr lang="en-US" smtClean="0"/>
              <a:pPr/>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3393250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AC0055-ECE8-4068-B2EC-ECE486CE2461}" type="datetimeFigureOut">
              <a:rPr lang="en-US" smtClean="0"/>
              <a:pPr/>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FAE7C-3770-47D7-BDE6-4A2E1FD190E1}" type="slidenum">
              <a:rPr lang="en-US" smtClean="0"/>
              <a:pPr/>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xmlns="" val="1994872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AC0055-ECE8-4068-B2EC-ECE486CE2461}" type="datetimeFigureOut">
              <a:rPr lang="en-US" smtClean="0"/>
              <a:pPr/>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3162603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AC0055-ECE8-4068-B2EC-ECE486CE2461}" type="datetimeFigureOut">
              <a:rPr lang="en-US" smtClean="0"/>
              <a:pPr/>
              <a:t>3/31/2025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849849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AC0055-ECE8-4068-B2EC-ECE486CE2461}" type="datetimeFigureOut">
              <a:rPr lang="en-US" smtClean="0"/>
              <a:pPr/>
              <a:t>3/31/2025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3811294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AC0055-ECE8-4068-B2EC-ECE486CE2461}" type="datetimeFigureOut">
              <a:rPr lang="en-US" smtClean="0"/>
              <a:pPr/>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34992264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AC0055-ECE8-4068-B2EC-ECE486CE2461}" type="datetimeFigureOut">
              <a:rPr lang="en-US" smtClean="0"/>
              <a:pPr/>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3471180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cstate="print">
            <a:alphaModFix amt="30000"/>
            <a:duotone>
              <a:prstClr val="black"/>
              <a:schemeClr val="tx2">
                <a:tint val="45000"/>
                <a:satMod val="400000"/>
              </a:schemeClr>
            </a:duotone>
            <a:extLst>
              <a:ext uri="{28A0092B-C50C-407E-A947-70E740481C1C}">
                <a14:useLocalDpi xmlns:a14="http://schemas.microsoft.com/office/drawing/2010/main" xmlns=""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8AC0055-ECE8-4068-B2EC-ECE486CE2461}" type="datetimeFigureOut">
              <a:rPr lang="en-US" smtClean="0"/>
              <a:pPr/>
              <a:t>3/31/2025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04FAE7C-3770-47D7-BDE6-4A2E1FD190E1}" type="slidenum">
              <a:rPr lang="en-US" smtClean="0"/>
              <a:pPr/>
              <a:t>‹#›</a:t>
            </a:fld>
            <a:endParaRPr lang="en-US"/>
          </a:p>
        </p:txBody>
      </p:sp>
    </p:spTree>
    <p:extLst>
      <p:ext uri="{BB962C8B-B14F-4D97-AF65-F5344CB8AC3E}">
        <p14:creationId xmlns:p14="http://schemas.microsoft.com/office/powerpoint/2010/main" xmlns="" val="1308360175"/>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62F570-4D89-4591-BEC9-AB098D469766}"/>
              </a:ext>
            </a:extLst>
          </p:cNvPr>
          <p:cNvSpPr>
            <a:spLocks noGrp="1"/>
          </p:cNvSpPr>
          <p:nvPr>
            <p:ph type="ctrTitle"/>
          </p:nvPr>
        </p:nvSpPr>
        <p:spPr/>
        <p:txBody>
          <a:bodyPr/>
          <a:lstStyle/>
          <a:p>
            <a:r>
              <a:rPr lang="en-US" dirty="0"/>
              <a:t>                </a:t>
            </a:r>
          </a:p>
        </p:txBody>
      </p:sp>
      <p:sp>
        <p:nvSpPr>
          <p:cNvPr id="3" name="Subtitle 2">
            <a:extLst>
              <a:ext uri="{FF2B5EF4-FFF2-40B4-BE49-F238E27FC236}">
                <a16:creationId xmlns:a16="http://schemas.microsoft.com/office/drawing/2014/main" xmlns="" id="{F08A4E45-B4A3-43CF-89A5-185BCE7DFE6A}"/>
              </a:ext>
            </a:extLst>
          </p:cNvPr>
          <p:cNvSpPr>
            <a:spLocks noGrp="1"/>
          </p:cNvSpPr>
          <p:nvPr>
            <p:ph type="subTitle" idx="1"/>
          </p:nvPr>
        </p:nvSpPr>
        <p:spPr/>
        <p:txBody>
          <a:bodyPr>
            <a:normAutofit fontScale="92500" lnSpcReduction="20000"/>
          </a:bodyPr>
          <a:lstStyle/>
          <a:p>
            <a:r>
              <a:rPr lang="en-US" dirty="0" smtClean="0"/>
              <a:t>Subject:- Hydraulics and Pneumatics</a:t>
            </a:r>
          </a:p>
          <a:p>
            <a:r>
              <a:rPr lang="en-US" dirty="0" smtClean="0"/>
              <a:t>Semester : 4</a:t>
            </a:r>
            <a:r>
              <a:rPr lang="en-US" baseline="30000" dirty="0" smtClean="0"/>
              <a:t>th</a:t>
            </a:r>
            <a:endParaRPr lang="en-US" dirty="0" smtClean="0"/>
          </a:p>
          <a:p>
            <a:r>
              <a:rPr lang="en-US" dirty="0" smtClean="0"/>
              <a:t>Branch :- Mechanical Engg.</a:t>
            </a:r>
          </a:p>
          <a:p>
            <a:r>
              <a:rPr lang="en-US" dirty="0" smtClean="0"/>
              <a:t>Prepared by:- </a:t>
            </a:r>
            <a:r>
              <a:rPr lang="en-US" dirty="0" smtClean="0"/>
              <a:t>Sunny </a:t>
            </a:r>
            <a:r>
              <a:rPr lang="en-US" dirty="0" err="1" smtClean="0"/>
              <a:t>Brar</a:t>
            </a:r>
            <a:endParaRPr lang="en-US" dirty="0"/>
          </a:p>
        </p:txBody>
      </p:sp>
    </p:spTree>
    <p:extLst>
      <p:ext uri="{BB962C8B-B14F-4D97-AF65-F5344CB8AC3E}">
        <p14:creationId xmlns:p14="http://schemas.microsoft.com/office/powerpoint/2010/main" xmlns="" val="1079345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589153-3F68-43D9-8F92-CB6A27988829}"/>
              </a:ext>
            </a:extLst>
          </p:cNvPr>
          <p:cNvSpPr>
            <a:spLocks noGrp="1"/>
          </p:cNvSpPr>
          <p:nvPr>
            <p:ph type="title"/>
          </p:nvPr>
        </p:nvSpPr>
        <p:spPr>
          <a:xfrm>
            <a:off x="1141413" y="414670"/>
            <a:ext cx="9905998" cy="1424763"/>
          </a:xfrm>
        </p:spPr>
        <p:txBody>
          <a:bodyPr/>
          <a:lstStyle/>
          <a:p>
            <a:r>
              <a:rPr lang="en-US" dirty="0"/>
              <a:t>Pumps and water turbines</a:t>
            </a:r>
          </a:p>
        </p:txBody>
      </p:sp>
      <p:sp>
        <p:nvSpPr>
          <p:cNvPr id="3" name="Content Placeholder 2">
            <a:extLst>
              <a:ext uri="{FF2B5EF4-FFF2-40B4-BE49-F238E27FC236}">
                <a16:creationId xmlns:a16="http://schemas.microsoft.com/office/drawing/2014/main" xmlns="" id="{95CED0D3-4094-4113-94CD-6849E7C42B3A}"/>
              </a:ext>
            </a:extLst>
          </p:cNvPr>
          <p:cNvSpPr>
            <a:spLocks noGrp="1"/>
          </p:cNvSpPr>
          <p:nvPr>
            <p:ph idx="1"/>
          </p:nvPr>
        </p:nvSpPr>
        <p:spPr>
          <a:xfrm>
            <a:off x="1141412" y="1690576"/>
            <a:ext cx="9905999" cy="4284921"/>
          </a:xfrm>
        </p:spPr>
        <p:txBody>
          <a:bodyPr>
            <a:normAutofit lnSpcReduction="10000"/>
          </a:bodyPr>
          <a:lstStyle/>
          <a:p>
            <a:r>
              <a:rPr lang="en-US" dirty="0"/>
              <a:t>Hydraulic Pump</a:t>
            </a:r>
          </a:p>
          <a:p>
            <a:r>
              <a:rPr lang="en-US" dirty="0"/>
              <a:t>Rotary Pumps</a:t>
            </a:r>
          </a:p>
          <a:p>
            <a:r>
              <a:rPr lang="en-US" dirty="0"/>
              <a:t>Reciprocating Pumps</a:t>
            </a:r>
          </a:p>
          <a:p>
            <a:r>
              <a:rPr lang="en-US" dirty="0"/>
              <a:t>Centrifugal Pumps</a:t>
            </a:r>
          </a:p>
          <a:p>
            <a:r>
              <a:rPr lang="en-US" dirty="0"/>
              <a:t>Water Turbines</a:t>
            </a:r>
          </a:p>
          <a:p>
            <a:r>
              <a:rPr lang="en-US" dirty="0"/>
              <a:t>Pelton Wheel Turbine</a:t>
            </a:r>
          </a:p>
          <a:p>
            <a:r>
              <a:rPr lang="en-US" dirty="0"/>
              <a:t>Francis Turbine</a:t>
            </a:r>
          </a:p>
          <a:p>
            <a:r>
              <a:rPr lang="en-US" dirty="0"/>
              <a:t>Kaplan Turbine</a:t>
            </a:r>
          </a:p>
          <a:p>
            <a:endParaRPr lang="en-US" dirty="0"/>
          </a:p>
        </p:txBody>
      </p:sp>
    </p:spTree>
    <p:extLst>
      <p:ext uri="{BB962C8B-B14F-4D97-AF65-F5344CB8AC3E}">
        <p14:creationId xmlns:p14="http://schemas.microsoft.com/office/powerpoint/2010/main" xmlns="" val="606341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AF0956-C3EA-46CA-A67E-E4ABC1A63504}"/>
              </a:ext>
            </a:extLst>
          </p:cNvPr>
          <p:cNvSpPr>
            <a:spLocks noGrp="1"/>
          </p:cNvSpPr>
          <p:nvPr>
            <p:ph type="title"/>
          </p:nvPr>
        </p:nvSpPr>
        <p:spPr/>
        <p:txBody>
          <a:bodyPr/>
          <a:lstStyle/>
          <a:p>
            <a:r>
              <a:rPr lang="en-US" dirty="0"/>
              <a:t>Hydraulic Pump and turbine</a:t>
            </a:r>
          </a:p>
        </p:txBody>
      </p:sp>
      <p:sp>
        <p:nvSpPr>
          <p:cNvPr id="3" name="Content Placeholder 2">
            <a:extLst>
              <a:ext uri="{FF2B5EF4-FFF2-40B4-BE49-F238E27FC236}">
                <a16:creationId xmlns:a16="http://schemas.microsoft.com/office/drawing/2014/main" xmlns="" id="{AB594A0F-551F-4B98-8B13-619BC40F196D}"/>
              </a:ext>
            </a:extLst>
          </p:cNvPr>
          <p:cNvSpPr>
            <a:spLocks noGrp="1"/>
          </p:cNvSpPr>
          <p:nvPr>
            <p:ph idx="1"/>
          </p:nvPr>
        </p:nvSpPr>
        <p:spPr/>
        <p:txBody>
          <a:bodyPr/>
          <a:lstStyle/>
          <a:p>
            <a:r>
              <a:rPr lang="en-US" dirty="0"/>
              <a:t>Pumps are the Hydraulic machines which convert mechanical energy into  Hydraulic energy( Pressure Energy). Pumps are used to lift liquid to lift it from lower level to higher level. Examples of Pumps are Centrifugal, Reciprocating Pumps and Rotary Pumps etc. </a:t>
            </a:r>
          </a:p>
          <a:p>
            <a:r>
              <a:rPr lang="en-US" dirty="0"/>
              <a:t>Whereas Hydraulic Turbines converts Hydraulic energy into Mechanical Energy. The mechanical energy is further converted to electrical energy. Hydraulic Turbine is the most important part of Hydro-electric power plant.</a:t>
            </a:r>
          </a:p>
        </p:txBody>
      </p:sp>
    </p:spTree>
    <p:extLst>
      <p:ext uri="{BB962C8B-B14F-4D97-AF65-F5344CB8AC3E}">
        <p14:creationId xmlns:p14="http://schemas.microsoft.com/office/powerpoint/2010/main" xmlns="" val="2098650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4C12DA-C850-4768-B230-E6B9222D0130}"/>
              </a:ext>
            </a:extLst>
          </p:cNvPr>
          <p:cNvSpPr>
            <a:spLocks noGrp="1"/>
          </p:cNvSpPr>
          <p:nvPr>
            <p:ph type="title"/>
          </p:nvPr>
        </p:nvSpPr>
        <p:spPr/>
        <p:txBody>
          <a:bodyPr/>
          <a:lstStyle/>
          <a:p>
            <a:r>
              <a:rPr lang="en-US" dirty="0"/>
              <a:t>Reciprocating pump</a:t>
            </a:r>
          </a:p>
        </p:txBody>
      </p:sp>
      <p:sp>
        <p:nvSpPr>
          <p:cNvPr id="3" name="Content Placeholder 2">
            <a:extLst>
              <a:ext uri="{FF2B5EF4-FFF2-40B4-BE49-F238E27FC236}">
                <a16:creationId xmlns:a16="http://schemas.microsoft.com/office/drawing/2014/main" xmlns="" id="{E0025C4D-6C67-4FBA-B146-D1ECA83098D4}"/>
              </a:ext>
            </a:extLst>
          </p:cNvPr>
          <p:cNvSpPr>
            <a:spLocks noGrp="1"/>
          </p:cNvSpPr>
          <p:nvPr>
            <p:ph idx="1"/>
          </p:nvPr>
        </p:nvSpPr>
        <p:spPr/>
        <p:txBody>
          <a:bodyPr>
            <a:normAutofit fontScale="92500" lnSpcReduction="10000"/>
          </a:bodyPr>
          <a:lstStyle/>
          <a:p>
            <a:r>
              <a:rPr lang="en-US" dirty="0"/>
              <a:t>A Reciprocating Pump sucks and lifts the liquid by actually displacing it with the help of piston reciprocating in a cylinder. It is a positive displacement pump.</a:t>
            </a:r>
          </a:p>
          <a:p>
            <a:r>
              <a:rPr lang="en-US" dirty="0"/>
              <a:t>Components</a:t>
            </a:r>
          </a:p>
          <a:p>
            <a:pPr marL="457200" indent="-457200">
              <a:buAutoNum type="arabicPeriod"/>
            </a:pPr>
            <a:r>
              <a:rPr lang="en-US" dirty="0"/>
              <a:t>Cylinder</a:t>
            </a:r>
          </a:p>
          <a:p>
            <a:pPr marL="457200" indent="-457200">
              <a:buAutoNum type="arabicPeriod"/>
            </a:pPr>
            <a:r>
              <a:rPr lang="en-US" dirty="0"/>
              <a:t>Piston</a:t>
            </a:r>
          </a:p>
          <a:p>
            <a:pPr marL="457200" indent="-457200">
              <a:buAutoNum type="arabicPeriod"/>
            </a:pPr>
            <a:r>
              <a:rPr lang="en-US" dirty="0"/>
              <a:t>Suction &amp; Delivery Valves</a:t>
            </a:r>
          </a:p>
          <a:p>
            <a:pPr marL="457200" indent="-457200">
              <a:buAutoNum type="arabicPeriod"/>
            </a:pPr>
            <a:r>
              <a:rPr lang="en-US" dirty="0"/>
              <a:t>Suction and Delivery Pipes</a:t>
            </a:r>
          </a:p>
          <a:p>
            <a:pPr marL="457200" indent="-457200">
              <a:buAutoNum type="arabicPeriod"/>
            </a:pPr>
            <a:endParaRPr lang="en-US" dirty="0"/>
          </a:p>
        </p:txBody>
      </p:sp>
    </p:spTree>
    <p:extLst>
      <p:ext uri="{BB962C8B-B14F-4D97-AF65-F5344CB8AC3E}">
        <p14:creationId xmlns:p14="http://schemas.microsoft.com/office/powerpoint/2010/main" xmlns="" val="203314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08D9B7-E55C-4126-88CA-687B436723EA}"/>
              </a:ext>
            </a:extLst>
          </p:cNvPr>
          <p:cNvSpPr>
            <a:spLocks noGrp="1"/>
          </p:cNvSpPr>
          <p:nvPr>
            <p:ph type="title"/>
          </p:nvPr>
        </p:nvSpPr>
        <p:spPr/>
        <p:txBody>
          <a:bodyPr/>
          <a:lstStyle/>
          <a:p>
            <a:r>
              <a:rPr lang="en-US" dirty="0"/>
              <a:t>Single Acting reciprocating pump</a:t>
            </a:r>
          </a:p>
        </p:txBody>
      </p:sp>
      <p:pic>
        <p:nvPicPr>
          <p:cNvPr id="7" name="Content Placeholder 6">
            <a:extLst>
              <a:ext uri="{FF2B5EF4-FFF2-40B4-BE49-F238E27FC236}">
                <a16:creationId xmlns:a16="http://schemas.microsoft.com/office/drawing/2014/main" xmlns="" id="{CCA0D925-2B8A-4400-AAD6-91C939A63357}"/>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881963" y="2402958"/>
            <a:ext cx="6060558" cy="3104707"/>
          </a:xfrm>
        </p:spPr>
      </p:pic>
    </p:spTree>
    <p:extLst>
      <p:ext uri="{BB962C8B-B14F-4D97-AF65-F5344CB8AC3E}">
        <p14:creationId xmlns:p14="http://schemas.microsoft.com/office/powerpoint/2010/main" xmlns="" val="2886937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500D85-FD75-4208-B614-3AB05EAAB5FC}"/>
              </a:ext>
            </a:extLst>
          </p:cNvPr>
          <p:cNvSpPr>
            <a:spLocks noGrp="1"/>
          </p:cNvSpPr>
          <p:nvPr>
            <p:ph type="title"/>
          </p:nvPr>
        </p:nvSpPr>
        <p:spPr/>
        <p:txBody>
          <a:bodyPr/>
          <a:lstStyle/>
          <a:p>
            <a:r>
              <a:rPr lang="en-US" dirty="0"/>
              <a:t>Centrifugal  pump</a:t>
            </a:r>
          </a:p>
        </p:txBody>
      </p:sp>
      <p:sp>
        <p:nvSpPr>
          <p:cNvPr id="3" name="Content Placeholder 2">
            <a:extLst>
              <a:ext uri="{FF2B5EF4-FFF2-40B4-BE49-F238E27FC236}">
                <a16:creationId xmlns:a16="http://schemas.microsoft.com/office/drawing/2014/main" xmlns="" id="{A6CD44E6-1DCE-467C-B036-3AAA16948261}"/>
              </a:ext>
            </a:extLst>
          </p:cNvPr>
          <p:cNvSpPr>
            <a:spLocks noGrp="1"/>
          </p:cNvSpPr>
          <p:nvPr>
            <p:ph idx="1"/>
          </p:nvPr>
        </p:nvSpPr>
        <p:spPr/>
        <p:txBody>
          <a:bodyPr>
            <a:normAutofit fontScale="92500" lnSpcReduction="10000"/>
          </a:bodyPr>
          <a:lstStyle/>
          <a:p>
            <a:r>
              <a:rPr lang="en-US" dirty="0"/>
              <a:t>It is that hydraulic machine which converts mechanical energy into pressure energy by means of centrifugal force acting on the liquid .</a:t>
            </a:r>
          </a:p>
          <a:p>
            <a:r>
              <a:rPr lang="en-US" dirty="0"/>
              <a:t>Components</a:t>
            </a:r>
          </a:p>
          <a:p>
            <a:pPr marL="457200" indent="-457200">
              <a:buAutoNum type="arabicPeriod"/>
            </a:pPr>
            <a:r>
              <a:rPr lang="en-US" dirty="0"/>
              <a:t>Impeller</a:t>
            </a:r>
          </a:p>
          <a:p>
            <a:pPr marL="457200" indent="-457200">
              <a:buAutoNum type="arabicPeriod"/>
            </a:pPr>
            <a:r>
              <a:rPr lang="en-US" dirty="0"/>
              <a:t>Casing</a:t>
            </a:r>
          </a:p>
          <a:p>
            <a:pPr marL="457200" indent="-457200">
              <a:buAutoNum type="arabicPeriod"/>
            </a:pPr>
            <a:r>
              <a:rPr lang="en-US" dirty="0"/>
              <a:t>Suction Pipe</a:t>
            </a:r>
          </a:p>
          <a:p>
            <a:pPr marL="457200" indent="-457200">
              <a:buAutoNum type="arabicPeriod"/>
            </a:pPr>
            <a:r>
              <a:rPr lang="en-US" dirty="0"/>
              <a:t>Delivery pipe</a:t>
            </a:r>
          </a:p>
        </p:txBody>
      </p:sp>
    </p:spTree>
    <p:extLst>
      <p:ext uri="{BB962C8B-B14F-4D97-AF65-F5344CB8AC3E}">
        <p14:creationId xmlns:p14="http://schemas.microsoft.com/office/powerpoint/2010/main" xmlns="" val="271033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C6F5EE-381F-4043-A21B-2FE485746A5F}"/>
              </a:ext>
            </a:extLst>
          </p:cNvPr>
          <p:cNvSpPr>
            <a:spLocks noGrp="1"/>
          </p:cNvSpPr>
          <p:nvPr>
            <p:ph type="title"/>
          </p:nvPr>
        </p:nvSpPr>
        <p:spPr/>
        <p:txBody>
          <a:bodyPr/>
          <a:lstStyle/>
          <a:p>
            <a:r>
              <a:rPr lang="en-US" dirty="0"/>
              <a:t>Centrifugal pump</a:t>
            </a:r>
          </a:p>
        </p:txBody>
      </p:sp>
      <p:pic>
        <p:nvPicPr>
          <p:cNvPr id="5" name="Content Placeholder 4">
            <a:extLst>
              <a:ext uri="{FF2B5EF4-FFF2-40B4-BE49-F238E27FC236}">
                <a16:creationId xmlns:a16="http://schemas.microsoft.com/office/drawing/2014/main" xmlns="" id="{6D8A4468-B78E-4DE7-ADFD-27F89CD5E7A9}"/>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754372" y="2530548"/>
            <a:ext cx="7091916" cy="3260651"/>
          </a:xfrm>
        </p:spPr>
      </p:pic>
    </p:spTree>
    <p:extLst>
      <p:ext uri="{BB962C8B-B14F-4D97-AF65-F5344CB8AC3E}">
        <p14:creationId xmlns:p14="http://schemas.microsoft.com/office/powerpoint/2010/main" xmlns="" val="194103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008CED-DFE8-4DD1-B1ED-097F8E4C1885}"/>
              </a:ext>
            </a:extLst>
          </p:cNvPr>
          <p:cNvSpPr>
            <a:spLocks noGrp="1"/>
          </p:cNvSpPr>
          <p:nvPr>
            <p:ph type="title"/>
          </p:nvPr>
        </p:nvSpPr>
        <p:spPr/>
        <p:txBody>
          <a:bodyPr/>
          <a:lstStyle/>
          <a:p>
            <a:r>
              <a:rPr lang="en-US" dirty="0"/>
              <a:t>Rotary pumps:- Vane pump</a:t>
            </a:r>
          </a:p>
        </p:txBody>
      </p:sp>
      <p:pic>
        <p:nvPicPr>
          <p:cNvPr id="5" name="Content Placeholder 4">
            <a:extLst>
              <a:ext uri="{FF2B5EF4-FFF2-40B4-BE49-F238E27FC236}">
                <a16:creationId xmlns:a16="http://schemas.microsoft.com/office/drawing/2014/main" xmlns="" id="{7B95A9FD-5681-4062-A315-4AD18D9CE9EC}"/>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062178" y="2445488"/>
            <a:ext cx="4751498" cy="2892056"/>
          </a:xfrm>
        </p:spPr>
      </p:pic>
    </p:spTree>
    <p:extLst>
      <p:ext uri="{BB962C8B-B14F-4D97-AF65-F5344CB8AC3E}">
        <p14:creationId xmlns:p14="http://schemas.microsoft.com/office/powerpoint/2010/main" xmlns="" val="1070695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3C7510-A7ED-4DEF-8533-546E55302882}"/>
              </a:ext>
            </a:extLst>
          </p:cNvPr>
          <p:cNvSpPr>
            <a:spLocks noGrp="1"/>
          </p:cNvSpPr>
          <p:nvPr>
            <p:ph type="title"/>
          </p:nvPr>
        </p:nvSpPr>
        <p:spPr/>
        <p:txBody>
          <a:bodyPr/>
          <a:lstStyle/>
          <a:p>
            <a:r>
              <a:rPr lang="en-US" dirty="0"/>
              <a:t>Rotary pumps:- gear pump</a:t>
            </a:r>
          </a:p>
        </p:txBody>
      </p:sp>
      <p:pic>
        <p:nvPicPr>
          <p:cNvPr id="5" name="Content Placeholder 4">
            <a:extLst>
              <a:ext uri="{FF2B5EF4-FFF2-40B4-BE49-F238E27FC236}">
                <a16:creationId xmlns:a16="http://schemas.microsoft.com/office/drawing/2014/main" xmlns="" id="{18A3FF15-05F5-43C9-B0BA-107ED9782344}"/>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23684" y="2763044"/>
            <a:ext cx="4603897" cy="2514600"/>
          </a:xfrm>
        </p:spPr>
      </p:pic>
    </p:spTree>
    <p:extLst>
      <p:ext uri="{BB962C8B-B14F-4D97-AF65-F5344CB8AC3E}">
        <p14:creationId xmlns:p14="http://schemas.microsoft.com/office/powerpoint/2010/main" xmlns="" val="1963443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AC5C44-9DCF-4452-983F-4F02C19D6C51}"/>
              </a:ext>
            </a:extLst>
          </p:cNvPr>
          <p:cNvSpPr>
            <a:spLocks noGrp="1"/>
          </p:cNvSpPr>
          <p:nvPr>
            <p:ph type="title"/>
          </p:nvPr>
        </p:nvSpPr>
        <p:spPr/>
        <p:txBody>
          <a:bodyPr/>
          <a:lstStyle/>
          <a:p>
            <a:r>
              <a:rPr lang="en-US" dirty="0"/>
              <a:t>Rotary pumps:- Screw pump</a:t>
            </a:r>
          </a:p>
        </p:txBody>
      </p:sp>
      <p:pic>
        <p:nvPicPr>
          <p:cNvPr id="5" name="Content Placeholder 4">
            <a:extLst>
              <a:ext uri="{FF2B5EF4-FFF2-40B4-BE49-F238E27FC236}">
                <a16:creationId xmlns:a16="http://schemas.microsoft.com/office/drawing/2014/main" xmlns="" id="{136724A7-9406-4DDB-BD0B-73FC8FDBD338}"/>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722474" y="2371060"/>
            <a:ext cx="6753189" cy="2982784"/>
          </a:xfrm>
        </p:spPr>
      </p:pic>
    </p:spTree>
    <p:extLst>
      <p:ext uri="{BB962C8B-B14F-4D97-AF65-F5344CB8AC3E}">
        <p14:creationId xmlns:p14="http://schemas.microsoft.com/office/powerpoint/2010/main" xmlns="" val="962459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C64D4C-47F4-4B94-93C1-A10097A0F7E3}"/>
              </a:ext>
            </a:extLst>
          </p:cNvPr>
          <p:cNvSpPr>
            <a:spLocks noGrp="1"/>
          </p:cNvSpPr>
          <p:nvPr>
            <p:ph type="title"/>
          </p:nvPr>
        </p:nvSpPr>
        <p:spPr/>
        <p:txBody>
          <a:bodyPr/>
          <a:lstStyle/>
          <a:p>
            <a:r>
              <a:rPr lang="en-US" dirty="0"/>
              <a:t>Important terms</a:t>
            </a:r>
          </a:p>
        </p:txBody>
      </p:sp>
      <p:sp>
        <p:nvSpPr>
          <p:cNvPr id="3" name="Content Placeholder 2">
            <a:extLst>
              <a:ext uri="{FF2B5EF4-FFF2-40B4-BE49-F238E27FC236}">
                <a16:creationId xmlns:a16="http://schemas.microsoft.com/office/drawing/2014/main" xmlns="" id="{9C08D3AE-420A-4FB9-9E95-88C827C0C5C4}"/>
              </a:ext>
            </a:extLst>
          </p:cNvPr>
          <p:cNvSpPr>
            <a:spLocks noGrp="1"/>
          </p:cNvSpPr>
          <p:nvPr>
            <p:ph idx="1"/>
          </p:nvPr>
        </p:nvSpPr>
        <p:spPr/>
        <p:txBody>
          <a:bodyPr>
            <a:normAutofit fontScale="92500" lnSpcReduction="10000"/>
          </a:bodyPr>
          <a:lstStyle/>
          <a:p>
            <a:r>
              <a:rPr lang="en-US" dirty="0"/>
              <a:t>Cavitation:- It is the formation of </a:t>
            </a:r>
            <a:r>
              <a:rPr lang="en-US" dirty="0" err="1"/>
              <a:t>vapour</a:t>
            </a:r>
            <a:r>
              <a:rPr lang="en-US" dirty="0"/>
              <a:t> bubbles in a flowing liquid in the region where the pressure of liquid falls below its </a:t>
            </a:r>
            <a:r>
              <a:rPr lang="en-US" dirty="0" err="1"/>
              <a:t>vaopur</a:t>
            </a:r>
            <a:r>
              <a:rPr lang="en-US" dirty="0"/>
              <a:t> pressure and then sudden collapsing of these bubbles in high pressure region.</a:t>
            </a:r>
          </a:p>
          <a:p>
            <a:r>
              <a:rPr lang="en-US" dirty="0"/>
              <a:t>Pitting:- The erosion of pump material on the inside surface due to repeated hammering action caused by collapsing </a:t>
            </a:r>
            <a:r>
              <a:rPr lang="en-US" dirty="0" err="1"/>
              <a:t>vapour</a:t>
            </a:r>
            <a:r>
              <a:rPr lang="en-US" dirty="0"/>
              <a:t> bubbles at high pressure region is called pitting.</a:t>
            </a:r>
          </a:p>
          <a:p>
            <a:r>
              <a:rPr lang="en-US" dirty="0"/>
              <a:t>Priming:- In this operation the suction pipe, casing and a portion of delivery pipe of a centrifugal pump is filled with liquid from outside source for removing air . </a:t>
            </a:r>
          </a:p>
          <a:p>
            <a:endParaRPr lang="en-US" dirty="0"/>
          </a:p>
        </p:txBody>
      </p:sp>
    </p:spTree>
    <p:extLst>
      <p:ext uri="{BB962C8B-B14F-4D97-AF65-F5344CB8AC3E}">
        <p14:creationId xmlns:p14="http://schemas.microsoft.com/office/powerpoint/2010/main" xmlns="" val="4009632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7CC5A7-4DF7-4BAD-8BBB-69C8E9AB3CDE}"/>
              </a:ext>
            </a:extLst>
          </p:cNvPr>
          <p:cNvSpPr>
            <a:spLocks noGrp="1"/>
          </p:cNvSpPr>
          <p:nvPr>
            <p:ph type="title"/>
          </p:nvPr>
        </p:nvSpPr>
        <p:spPr/>
        <p:txBody>
          <a:bodyPr/>
          <a:lstStyle/>
          <a:p>
            <a:r>
              <a:rPr lang="en-US" dirty="0"/>
              <a:t>Comparison of reciprocating and centrifugal pump</a:t>
            </a:r>
          </a:p>
        </p:txBody>
      </p:sp>
      <p:sp>
        <p:nvSpPr>
          <p:cNvPr id="3" name="Text Placeholder 2">
            <a:extLst>
              <a:ext uri="{FF2B5EF4-FFF2-40B4-BE49-F238E27FC236}">
                <a16:creationId xmlns:a16="http://schemas.microsoft.com/office/drawing/2014/main" xmlns="" id="{CCB0ABBE-11AF-4FA2-9656-BA696CB2D22E}"/>
              </a:ext>
            </a:extLst>
          </p:cNvPr>
          <p:cNvSpPr>
            <a:spLocks noGrp="1"/>
          </p:cNvSpPr>
          <p:nvPr>
            <p:ph type="body" idx="1"/>
          </p:nvPr>
        </p:nvSpPr>
        <p:spPr/>
        <p:txBody>
          <a:bodyPr/>
          <a:lstStyle/>
          <a:p>
            <a:r>
              <a:rPr lang="en-US" dirty="0"/>
              <a:t>Centrifugal pump</a:t>
            </a:r>
          </a:p>
        </p:txBody>
      </p:sp>
      <p:sp>
        <p:nvSpPr>
          <p:cNvPr id="4" name="Content Placeholder 3">
            <a:extLst>
              <a:ext uri="{FF2B5EF4-FFF2-40B4-BE49-F238E27FC236}">
                <a16:creationId xmlns:a16="http://schemas.microsoft.com/office/drawing/2014/main" xmlns="" id="{2104925D-E5E5-4CA7-ADF7-FF58082A85D5}"/>
              </a:ext>
            </a:extLst>
          </p:cNvPr>
          <p:cNvSpPr>
            <a:spLocks noGrp="1"/>
          </p:cNvSpPr>
          <p:nvPr>
            <p:ph sz="half" idx="2"/>
          </p:nvPr>
        </p:nvSpPr>
        <p:spPr/>
        <p:txBody>
          <a:bodyPr>
            <a:normAutofit fontScale="70000" lnSpcReduction="20000"/>
          </a:bodyPr>
          <a:lstStyle/>
          <a:p>
            <a:r>
              <a:rPr lang="en-US" dirty="0"/>
              <a:t>Its operation is steady.</a:t>
            </a:r>
          </a:p>
          <a:p>
            <a:r>
              <a:rPr lang="en-US" dirty="0"/>
              <a:t>Delivery is continuous and smooth.</a:t>
            </a:r>
          </a:p>
          <a:p>
            <a:r>
              <a:rPr lang="en-US" dirty="0"/>
              <a:t>Used for large discharge and small heads.</a:t>
            </a:r>
          </a:p>
          <a:p>
            <a:r>
              <a:rPr lang="en-US" dirty="0"/>
              <a:t>Operating speed is high</a:t>
            </a:r>
          </a:p>
          <a:p>
            <a:r>
              <a:rPr lang="en-US" dirty="0"/>
              <a:t>Low maintenance cost</a:t>
            </a:r>
          </a:p>
          <a:p>
            <a:r>
              <a:rPr lang="en-US" dirty="0"/>
              <a:t>Initial cost is less.</a:t>
            </a:r>
          </a:p>
          <a:p>
            <a:r>
              <a:rPr lang="en-US" dirty="0"/>
              <a:t>More viscous fluids can be lifted</a:t>
            </a:r>
          </a:p>
          <a:p>
            <a:endParaRPr lang="en-US" dirty="0"/>
          </a:p>
        </p:txBody>
      </p:sp>
      <p:sp>
        <p:nvSpPr>
          <p:cNvPr id="5" name="Text Placeholder 4">
            <a:extLst>
              <a:ext uri="{FF2B5EF4-FFF2-40B4-BE49-F238E27FC236}">
                <a16:creationId xmlns:a16="http://schemas.microsoft.com/office/drawing/2014/main" xmlns="" id="{EF8D0B41-4028-4BF9-AE34-A19A1683FE3F}"/>
              </a:ext>
            </a:extLst>
          </p:cNvPr>
          <p:cNvSpPr>
            <a:spLocks noGrp="1"/>
          </p:cNvSpPr>
          <p:nvPr>
            <p:ph type="body" sz="quarter" idx="3"/>
          </p:nvPr>
        </p:nvSpPr>
        <p:spPr/>
        <p:txBody>
          <a:bodyPr/>
          <a:lstStyle/>
          <a:p>
            <a:r>
              <a:rPr lang="en-US" dirty="0"/>
              <a:t>Reciprocating pump</a:t>
            </a:r>
          </a:p>
        </p:txBody>
      </p:sp>
      <p:sp>
        <p:nvSpPr>
          <p:cNvPr id="6" name="Content Placeholder 5">
            <a:extLst>
              <a:ext uri="{FF2B5EF4-FFF2-40B4-BE49-F238E27FC236}">
                <a16:creationId xmlns:a16="http://schemas.microsoft.com/office/drawing/2014/main" xmlns="" id="{DCB868E9-84F7-4D78-93EC-66891F2B4262}"/>
              </a:ext>
            </a:extLst>
          </p:cNvPr>
          <p:cNvSpPr>
            <a:spLocks noGrp="1"/>
          </p:cNvSpPr>
          <p:nvPr>
            <p:ph sz="quarter" idx="4"/>
          </p:nvPr>
        </p:nvSpPr>
        <p:spPr/>
        <p:txBody>
          <a:bodyPr>
            <a:normAutofit fontScale="70000" lnSpcReduction="20000"/>
          </a:bodyPr>
          <a:lstStyle/>
          <a:p>
            <a:r>
              <a:rPr lang="en-US" dirty="0"/>
              <a:t>Its operation is intermittent.</a:t>
            </a:r>
          </a:p>
          <a:p>
            <a:r>
              <a:rPr lang="en-US" dirty="0"/>
              <a:t>Delivery is fluctuating and pulsating.</a:t>
            </a:r>
          </a:p>
          <a:p>
            <a:r>
              <a:rPr lang="en-US" dirty="0"/>
              <a:t>Used for high head and low discharge</a:t>
            </a:r>
          </a:p>
          <a:p>
            <a:r>
              <a:rPr lang="en-US" dirty="0"/>
              <a:t>Operating speed is low</a:t>
            </a:r>
          </a:p>
          <a:p>
            <a:r>
              <a:rPr lang="en-US" dirty="0"/>
              <a:t>Maintenance cost is more</a:t>
            </a:r>
          </a:p>
          <a:p>
            <a:r>
              <a:rPr lang="en-US" dirty="0"/>
              <a:t>High Initial cost</a:t>
            </a:r>
          </a:p>
          <a:p>
            <a:r>
              <a:rPr lang="en-US" dirty="0"/>
              <a:t>Used for lifting less viscous fluids </a:t>
            </a:r>
          </a:p>
        </p:txBody>
      </p:sp>
    </p:spTree>
    <p:extLst>
      <p:ext uri="{BB962C8B-B14F-4D97-AF65-F5344CB8AC3E}">
        <p14:creationId xmlns:p14="http://schemas.microsoft.com/office/powerpoint/2010/main" xmlns="" val="235292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A569C6-D73A-47CA-9F85-5FDD2D2BE152}"/>
              </a:ext>
            </a:extLst>
          </p:cNvPr>
          <p:cNvSpPr>
            <a:spLocks noGrp="1"/>
          </p:cNvSpPr>
          <p:nvPr>
            <p:ph type="title"/>
          </p:nvPr>
        </p:nvSpPr>
        <p:spPr/>
        <p:txBody>
          <a:bodyPr/>
          <a:lstStyle/>
          <a:p>
            <a:r>
              <a:rPr lang="en-US" dirty="0"/>
              <a:t>Turbine</a:t>
            </a:r>
          </a:p>
        </p:txBody>
      </p:sp>
      <p:sp>
        <p:nvSpPr>
          <p:cNvPr id="3" name="Content Placeholder 2">
            <a:extLst>
              <a:ext uri="{FF2B5EF4-FFF2-40B4-BE49-F238E27FC236}">
                <a16:creationId xmlns:a16="http://schemas.microsoft.com/office/drawing/2014/main" xmlns="" id="{CDD23460-810B-472D-8A43-A6EEFCD49AD3}"/>
              </a:ext>
            </a:extLst>
          </p:cNvPr>
          <p:cNvSpPr>
            <a:spLocks noGrp="1"/>
          </p:cNvSpPr>
          <p:nvPr>
            <p:ph idx="1"/>
          </p:nvPr>
        </p:nvSpPr>
        <p:spPr/>
        <p:txBody>
          <a:bodyPr/>
          <a:lstStyle/>
          <a:p>
            <a:r>
              <a:rPr lang="en-US" dirty="0"/>
              <a:t>Hydraulic Turbines are the machines which use the energy of water and converts it (Hydraulic energy) into Mechanical Energy. The mechanical energy developed by a turbine is further converted to electrical energy by running an electric generator coupled directly to the shaft of Turbine. Hydraulic Turbine is the most important part of Hydro-electric power plant.</a:t>
            </a:r>
          </a:p>
          <a:p>
            <a:endParaRPr lang="en-US" dirty="0"/>
          </a:p>
        </p:txBody>
      </p:sp>
    </p:spTree>
    <p:extLst>
      <p:ext uri="{BB962C8B-B14F-4D97-AF65-F5344CB8AC3E}">
        <p14:creationId xmlns:p14="http://schemas.microsoft.com/office/powerpoint/2010/main" xmlns="" val="1741608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AF0BDF-5ADA-45E2-BB54-BCE085AC0687}"/>
              </a:ext>
            </a:extLst>
          </p:cNvPr>
          <p:cNvSpPr>
            <a:spLocks noGrp="1"/>
          </p:cNvSpPr>
          <p:nvPr>
            <p:ph type="title"/>
          </p:nvPr>
        </p:nvSpPr>
        <p:spPr>
          <a:xfrm>
            <a:off x="1141413" y="618518"/>
            <a:ext cx="9905998" cy="795612"/>
          </a:xfrm>
        </p:spPr>
        <p:txBody>
          <a:bodyPr/>
          <a:lstStyle/>
          <a:p>
            <a:r>
              <a:rPr lang="en-US" dirty="0"/>
              <a:t>Classification of hydraulic turbines</a:t>
            </a:r>
          </a:p>
        </p:txBody>
      </p:sp>
      <p:sp>
        <p:nvSpPr>
          <p:cNvPr id="3" name="Content Placeholder 2">
            <a:extLst>
              <a:ext uri="{FF2B5EF4-FFF2-40B4-BE49-F238E27FC236}">
                <a16:creationId xmlns:a16="http://schemas.microsoft.com/office/drawing/2014/main" xmlns="" id="{C9E55EA7-5504-46B6-A262-0FDB594E4CEB}"/>
              </a:ext>
            </a:extLst>
          </p:cNvPr>
          <p:cNvSpPr>
            <a:spLocks noGrp="1"/>
          </p:cNvSpPr>
          <p:nvPr>
            <p:ph idx="1"/>
          </p:nvPr>
        </p:nvSpPr>
        <p:spPr>
          <a:xfrm>
            <a:off x="1141412" y="1488558"/>
            <a:ext cx="9905999" cy="4859079"/>
          </a:xfrm>
        </p:spPr>
        <p:txBody>
          <a:bodyPr>
            <a:normAutofit fontScale="62500" lnSpcReduction="20000"/>
          </a:bodyPr>
          <a:lstStyle/>
          <a:p>
            <a:pPr marL="457200" indent="-457200">
              <a:buAutoNum type="arabicPeriod"/>
            </a:pPr>
            <a:r>
              <a:rPr lang="en-US" dirty="0"/>
              <a:t>According to the type of energy at inlet</a:t>
            </a:r>
          </a:p>
          <a:p>
            <a:pPr marL="457200" indent="-457200">
              <a:buAutoNum type="alphaLcParenBoth"/>
            </a:pPr>
            <a:r>
              <a:rPr lang="en-US" dirty="0"/>
              <a:t>Impulse Turbine                    (b) Reaction Turbine</a:t>
            </a:r>
          </a:p>
          <a:p>
            <a:pPr marL="457200" indent="-457200">
              <a:buAutoNum type="arabicPeriod" startAt="2"/>
            </a:pPr>
            <a:r>
              <a:rPr lang="en-US" dirty="0"/>
              <a:t>According to the direction of flow through runner</a:t>
            </a:r>
          </a:p>
          <a:p>
            <a:pPr marL="457200" indent="-457200">
              <a:buAutoNum type="alphaLcParenBoth"/>
            </a:pPr>
            <a:r>
              <a:rPr lang="en-US" dirty="0"/>
              <a:t>Tangential Flow Turbine        (b) Radial Flow Turbine</a:t>
            </a:r>
          </a:p>
          <a:p>
            <a:pPr marL="0" indent="0">
              <a:buNone/>
            </a:pPr>
            <a:r>
              <a:rPr lang="en-US" dirty="0"/>
              <a:t>(c) Axial Flow Turbine                (d) Mixed Flow Turbine</a:t>
            </a:r>
          </a:p>
          <a:p>
            <a:pPr marL="0" indent="0">
              <a:buNone/>
            </a:pPr>
            <a:r>
              <a:rPr lang="en-US" dirty="0"/>
              <a:t>3. According to Head at the inlet of turbine</a:t>
            </a:r>
          </a:p>
          <a:p>
            <a:pPr marL="457200" indent="-457200">
              <a:buAutoNum type="alphaLcParenBoth"/>
            </a:pPr>
            <a:r>
              <a:rPr lang="en-US" dirty="0"/>
              <a:t>High Head Turbine</a:t>
            </a:r>
          </a:p>
          <a:p>
            <a:pPr marL="457200" indent="-457200">
              <a:buAutoNum type="alphaLcParenBoth"/>
            </a:pPr>
            <a:r>
              <a:rPr lang="en-US" dirty="0"/>
              <a:t>Medium Head Turbine</a:t>
            </a:r>
          </a:p>
          <a:p>
            <a:pPr marL="457200" indent="-457200">
              <a:buAutoNum type="alphaLcParenBoth"/>
            </a:pPr>
            <a:r>
              <a:rPr lang="en-US" dirty="0"/>
              <a:t>Low Head Turbine</a:t>
            </a:r>
          </a:p>
          <a:p>
            <a:pPr marL="0" indent="0">
              <a:buNone/>
            </a:pPr>
            <a:r>
              <a:rPr lang="en-US" dirty="0"/>
              <a:t>4. According to Specific speed of turbine</a:t>
            </a:r>
          </a:p>
          <a:p>
            <a:pPr marL="457200" indent="-457200">
              <a:buAutoNum type="alphaLcParenBoth"/>
            </a:pPr>
            <a:r>
              <a:rPr lang="en-US" dirty="0"/>
              <a:t>Low Specific speed turbine</a:t>
            </a:r>
          </a:p>
          <a:p>
            <a:pPr marL="457200" indent="-457200">
              <a:buAutoNum type="alphaLcParenBoth"/>
            </a:pPr>
            <a:r>
              <a:rPr lang="en-US" dirty="0"/>
              <a:t>Medium specific speed turbine</a:t>
            </a:r>
          </a:p>
          <a:p>
            <a:pPr marL="457200" indent="-457200">
              <a:buAutoNum type="alphaLcParenBoth"/>
            </a:pPr>
            <a:r>
              <a:rPr lang="en-US" dirty="0"/>
              <a:t>High Specific speed turbine </a:t>
            </a:r>
          </a:p>
        </p:txBody>
      </p:sp>
    </p:spTree>
    <p:extLst>
      <p:ext uri="{BB962C8B-B14F-4D97-AF65-F5344CB8AC3E}">
        <p14:creationId xmlns:p14="http://schemas.microsoft.com/office/powerpoint/2010/main" xmlns="" val="3425270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A586FC-ECCD-4159-982B-3AB1B9D419E5}"/>
              </a:ext>
            </a:extLst>
          </p:cNvPr>
          <p:cNvSpPr>
            <a:spLocks noGrp="1"/>
          </p:cNvSpPr>
          <p:nvPr>
            <p:ph type="title"/>
          </p:nvPr>
        </p:nvSpPr>
        <p:spPr>
          <a:xfrm>
            <a:off x="1141411" y="619127"/>
            <a:ext cx="9906000" cy="447676"/>
          </a:xfrm>
        </p:spPr>
        <p:txBody>
          <a:bodyPr>
            <a:normAutofit fontScale="90000"/>
          </a:bodyPr>
          <a:lstStyle/>
          <a:p>
            <a:r>
              <a:rPr lang="en-US" dirty="0"/>
              <a:t>Impulse turbine vs reaction turbine</a:t>
            </a:r>
          </a:p>
        </p:txBody>
      </p:sp>
      <p:sp>
        <p:nvSpPr>
          <p:cNvPr id="3" name="Text Placeholder 2">
            <a:extLst>
              <a:ext uri="{FF2B5EF4-FFF2-40B4-BE49-F238E27FC236}">
                <a16:creationId xmlns:a16="http://schemas.microsoft.com/office/drawing/2014/main" xmlns="" id="{D15E07F1-2554-4840-A6C8-617C2EB54469}"/>
              </a:ext>
            </a:extLst>
          </p:cNvPr>
          <p:cNvSpPr>
            <a:spLocks noGrp="1"/>
          </p:cNvSpPr>
          <p:nvPr>
            <p:ph type="body" idx="1"/>
          </p:nvPr>
        </p:nvSpPr>
        <p:spPr>
          <a:xfrm>
            <a:off x="1370019" y="1212112"/>
            <a:ext cx="4649783" cy="447676"/>
          </a:xfrm>
        </p:spPr>
        <p:txBody>
          <a:bodyPr>
            <a:normAutofit/>
          </a:bodyPr>
          <a:lstStyle/>
          <a:p>
            <a:r>
              <a:rPr lang="en-US" dirty="0"/>
              <a:t>Impulse turbine</a:t>
            </a:r>
          </a:p>
        </p:txBody>
      </p:sp>
      <p:sp>
        <p:nvSpPr>
          <p:cNvPr id="4" name="Content Placeholder 3">
            <a:extLst>
              <a:ext uri="{FF2B5EF4-FFF2-40B4-BE49-F238E27FC236}">
                <a16:creationId xmlns:a16="http://schemas.microsoft.com/office/drawing/2014/main" xmlns="" id="{E65F5051-B610-4427-B0CE-56D902160B44}"/>
              </a:ext>
            </a:extLst>
          </p:cNvPr>
          <p:cNvSpPr>
            <a:spLocks noGrp="1"/>
          </p:cNvSpPr>
          <p:nvPr>
            <p:ph sz="half" idx="2"/>
          </p:nvPr>
        </p:nvSpPr>
        <p:spPr>
          <a:xfrm>
            <a:off x="1141410" y="1659789"/>
            <a:ext cx="4878391" cy="4131410"/>
          </a:xfrm>
        </p:spPr>
        <p:txBody>
          <a:bodyPr>
            <a:normAutofit fontScale="55000" lnSpcReduction="20000"/>
          </a:bodyPr>
          <a:lstStyle/>
          <a:p>
            <a:pPr marL="457200" indent="-457200">
              <a:buAutoNum type="arabicPeriod"/>
            </a:pPr>
            <a:r>
              <a:rPr lang="en-US" dirty="0"/>
              <a:t>The energy available at the inlet of the turbine is Kinetic energy only</a:t>
            </a:r>
          </a:p>
          <a:p>
            <a:pPr marL="457200" indent="-457200">
              <a:buAutoNum type="arabicPeriod"/>
            </a:pPr>
            <a:r>
              <a:rPr lang="en-US" dirty="0"/>
              <a:t>The pressure in the turbine from inlet to outlet is atmospheric pressure</a:t>
            </a:r>
          </a:p>
          <a:p>
            <a:pPr marL="457200" indent="-457200">
              <a:buAutoNum type="arabicPeriod"/>
            </a:pPr>
            <a:r>
              <a:rPr lang="en-US" dirty="0"/>
              <a:t>These turbines works on high head (above 250 m)</a:t>
            </a:r>
          </a:p>
          <a:p>
            <a:pPr marL="457200" indent="-457200">
              <a:buAutoNum type="arabicPeriod"/>
            </a:pPr>
            <a:r>
              <a:rPr lang="en-US" dirty="0"/>
              <a:t>The wheel does not run full so that the air has free access between the vanes.</a:t>
            </a:r>
          </a:p>
          <a:p>
            <a:pPr marL="457200" indent="-457200">
              <a:buAutoNum type="arabicPeriod"/>
            </a:pPr>
            <a:r>
              <a:rPr lang="en-US" dirty="0"/>
              <a:t>Casing has no hydraulic function</a:t>
            </a:r>
          </a:p>
          <a:p>
            <a:pPr marL="457200" indent="-457200">
              <a:buAutoNum type="arabicPeriod"/>
            </a:pPr>
            <a:r>
              <a:rPr lang="en-US" dirty="0"/>
              <a:t>Flow through the turbine is tangential.</a:t>
            </a:r>
          </a:p>
          <a:p>
            <a:pPr marL="457200" indent="-457200">
              <a:buAutoNum type="arabicPeriod"/>
            </a:pPr>
            <a:r>
              <a:rPr lang="en-US" dirty="0"/>
              <a:t>Draft tube is not required.</a:t>
            </a:r>
          </a:p>
          <a:p>
            <a:pPr marL="457200" indent="-457200">
              <a:buAutoNum type="arabicPeriod"/>
            </a:pPr>
            <a:r>
              <a:rPr lang="en-US" dirty="0"/>
              <a:t>Flow regulation is done by the needle valve fitted into the nozzle</a:t>
            </a:r>
          </a:p>
          <a:p>
            <a:pPr marL="457200" indent="-457200">
              <a:buAutoNum type="arabicPeriod"/>
            </a:pPr>
            <a:r>
              <a:rPr lang="en-US" dirty="0"/>
              <a:t>Examples : Pelton Wheel Turbine, </a:t>
            </a:r>
            <a:r>
              <a:rPr lang="en-US" dirty="0" err="1"/>
              <a:t>Gurard</a:t>
            </a:r>
            <a:r>
              <a:rPr lang="en-US" dirty="0"/>
              <a:t> Turbine, </a:t>
            </a:r>
            <a:r>
              <a:rPr lang="en-US" dirty="0" err="1"/>
              <a:t>Banki</a:t>
            </a:r>
            <a:r>
              <a:rPr lang="en-US" dirty="0"/>
              <a:t> Turbine etc.</a:t>
            </a:r>
          </a:p>
        </p:txBody>
      </p:sp>
      <p:sp>
        <p:nvSpPr>
          <p:cNvPr id="5" name="Text Placeholder 4">
            <a:extLst>
              <a:ext uri="{FF2B5EF4-FFF2-40B4-BE49-F238E27FC236}">
                <a16:creationId xmlns:a16="http://schemas.microsoft.com/office/drawing/2014/main" xmlns="" id="{092B8D38-26DC-46F2-BDC0-64F24407F0F7}"/>
              </a:ext>
            </a:extLst>
          </p:cNvPr>
          <p:cNvSpPr>
            <a:spLocks noGrp="1"/>
          </p:cNvSpPr>
          <p:nvPr>
            <p:ph type="body" sz="quarter" idx="3"/>
          </p:nvPr>
        </p:nvSpPr>
        <p:spPr>
          <a:xfrm>
            <a:off x="6400808" y="1212113"/>
            <a:ext cx="4646602" cy="361506"/>
          </a:xfrm>
        </p:spPr>
        <p:txBody>
          <a:bodyPr>
            <a:normAutofit fontScale="92500" lnSpcReduction="10000"/>
          </a:bodyPr>
          <a:lstStyle/>
          <a:p>
            <a:r>
              <a:rPr lang="en-US" dirty="0"/>
              <a:t>Reaction turbine</a:t>
            </a:r>
          </a:p>
        </p:txBody>
      </p:sp>
      <p:sp>
        <p:nvSpPr>
          <p:cNvPr id="6" name="Content Placeholder 5">
            <a:extLst>
              <a:ext uri="{FF2B5EF4-FFF2-40B4-BE49-F238E27FC236}">
                <a16:creationId xmlns:a16="http://schemas.microsoft.com/office/drawing/2014/main" xmlns="" id="{2C4A7EBB-AB99-42A8-8483-880B28539549}"/>
              </a:ext>
            </a:extLst>
          </p:cNvPr>
          <p:cNvSpPr>
            <a:spLocks noGrp="1"/>
          </p:cNvSpPr>
          <p:nvPr>
            <p:ph sz="quarter" idx="4"/>
          </p:nvPr>
        </p:nvSpPr>
        <p:spPr>
          <a:xfrm>
            <a:off x="6172200" y="1659788"/>
            <a:ext cx="4875210" cy="4131411"/>
          </a:xfrm>
        </p:spPr>
        <p:txBody>
          <a:bodyPr>
            <a:normAutofit fontScale="55000" lnSpcReduction="20000"/>
          </a:bodyPr>
          <a:lstStyle/>
          <a:p>
            <a:pPr marL="457200" indent="-457200">
              <a:buAutoNum type="arabicPeriod"/>
            </a:pPr>
            <a:r>
              <a:rPr lang="en-US" dirty="0"/>
              <a:t>The energy available at the inlet of turbine is kinetic as well as pressure energy.</a:t>
            </a:r>
          </a:p>
          <a:p>
            <a:pPr marL="457200" indent="-457200">
              <a:buAutoNum type="arabicPeriod"/>
            </a:pPr>
            <a:r>
              <a:rPr lang="en-US" dirty="0"/>
              <a:t>As the water flows from inlet to outlet pressure decreases and at outlet of turbine pressure is below atmospheric pressure.</a:t>
            </a:r>
          </a:p>
          <a:p>
            <a:pPr marL="457200" indent="-457200">
              <a:buAutoNum type="arabicPeriod"/>
            </a:pPr>
            <a:r>
              <a:rPr lang="en-US" dirty="0"/>
              <a:t>These turbines works on medium head (60 m to 250 m) and low head ( Below 60 m).</a:t>
            </a:r>
          </a:p>
          <a:p>
            <a:pPr marL="457200" indent="-457200">
              <a:buAutoNum type="arabicPeriod"/>
            </a:pPr>
            <a:r>
              <a:rPr lang="en-US" dirty="0"/>
              <a:t>The wheel always run full.</a:t>
            </a:r>
          </a:p>
          <a:p>
            <a:pPr marL="457200" indent="-457200">
              <a:buAutoNum type="arabicPeriod"/>
            </a:pPr>
            <a:r>
              <a:rPr lang="en-US" dirty="0"/>
              <a:t>Casing has hydraulic function.</a:t>
            </a:r>
          </a:p>
          <a:p>
            <a:pPr marL="457200" indent="-457200">
              <a:buAutoNum type="arabicPeriod"/>
            </a:pPr>
            <a:r>
              <a:rPr lang="en-US" dirty="0"/>
              <a:t>Flow of water is axial, radial or mixed .</a:t>
            </a:r>
          </a:p>
          <a:p>
            <a:pPr marL="457200" indent="-457200">
              <a:buAutoNum type="arabicPeriod"/>
            </a:pPr>
            <a:r>
              <a:rPr lang="en-US" dirty="0"/>
              <a:t>Draft tube is required.</a:t>
            </a:r>
          </a:p>
          <a:p>
            <a:pPr marL="457200" indent="-457200">
              <a:buAutoNum type="arabicPeriod"/>
            </a:pPr>
            <a:r>
              <a:rPr lang="en-US" dirty="0"/>
              <a:t>Guide vanes are required to control the supply of water to runner.</a:t>
            </a:r>
          </a:p>
          <a:p>
            <a:pPr marL="457200" indent="-457200">
              <a:buAutoNum type="arabicPeriod"/>
            </a:pPr>
            <a:r>
              <a:rPr lang="en-US" dirty="0"/>
              <a:t>Examples: Francis Turbine, Kaplan Turbine, Propeller Turbine etc.</a:t>
            </a:r>
          </a:p>
          <a:p>
            <a:pPr marL="0" indent="0">
              <a:buNone/>
            </a:pPr>
            <a:endParaRPr lang="en-US" dirty="0"/>
          </a:p>
        </p:txBody>
      </p:sp>
    </p:spTree>
    <p:extLst>
      <p:ext uri="{BB962C8B-B14F-4D97-AF65-F5344CB8AC3E}">
        <p14:creationId xmlns:p14="http://schemas.microsoft.com/office/powerpoint/2010/main" xmlns="" val="3755216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59465D-8BDE-40B4-A6B0-D2F86584AD7D}"/>
              </a:ext>
            </a:extLst>
          </p:cNvPr>
          <p:cNvSpPr>
            <a:spLocks noGrp="1"/>
          </p:cNvSpPr>
          <p:nvPr>
            <p:ph type="title"/>
          </p:nvPr>
        </p:nvSpPr>
        <p:spPr>
          <a:xfrm>
            <a:off x="1141413" y="618518"/>
            <a:ext cx="9905998" cy="306515"/>
          </a:xfrm>
        </p:spPr>
        <p:txBody>
          <a:bodyPr>
            <a:normAutofit fontScale="90000"/>
          </a:bodyPr>
          <a:lstStyle/>
          <a:p>
            <a:r>
              <a:rPr lang="en-US" dirty="0"/>
              <a:t>Selection of turbines</a:t>
            </a:r>
          </a:p>
        </p:txBody>
      </p:sp>
      <p:sp>
        <p:nvSpPr>
          <p:cNvPr id="3" name="Content Placeholder 2">
            <a:extLst>
              <a:ext uri="{FF2B5EF4-FFF2-40B4-BE49-F238E27FC236}">
                <a16:creationId xmlns:a16="http://schemas.microsoft.com/office/drawing/2014/main" xmlns="" id="{F9324D70-E804-4EB2-A258-4A34E6857644}"/>
              </a:ext>
            </a:extLst>
          </p:cNvPr>
          <p:cNvSpPr>
            <a:spLocks noGrp="1"/>
          </p:cNvSpPr>
          <p:nvPr>
            <p:ph idx="1"/>
          </p:nvPr>
        </p:nvSpPr>
        <p:spPr>
          <a:xfrm>
            <a:off x="1141412" y="1329070"/>
            <a:ext cx="9905999" cy="4462131"/>
          </a:xfrm>
        </p:spPr>
        <p:txBody>
          <a:bodyPr>
            <a:normAutofit fontScale="62500" lnSpcReduction="20000"/>
          </a:bodyPr>
          <a:lstStyle/>
          <a:p>
            <a:pPr marL="0" indent="0">
              <a:buNone/>
            </a:pPr>
            <a:r>
              <a:rPr lang="en-US" dirty="0"/>
              <a:t>The hydraulic turbine is always selected to match the specific conditions under which it had to operate and attain maximum possible efficiency. Following factors are considered while selecting a suitable turbine for a particular power plant.</a:t>
            </a:r>
          </a:p>
          <a:p>
            <a:pPr marL="457200" indent="-457200">
              <a:buAutoNum type="arabicPeriod"/>
            </a:pPr>
            <a:r>
              <a:rPr lang="en-US" dirty="0"/>
              <a:t>Rotational Speed</a:t>
            </a:r>
          </a:p>
          <a:p>
            <a:pPr marL="457200" indent="-457200">
              <a:buAutoNum type="arabicPeriod"/>
            </a:pPr>
            <a:r>
              <a:rPr lang="en-US" dirty="0"/>
              <a:t>Specific Turbine</a:t>
            </a:r>
          </a:p>
          <a:p>
            <a:pPr marL="457200" indent="-457200">
              <a:buAutoNum type="arabicPeriod"/>
            </a:pPr>
            <a:r>
              <a:rPr lang="en-US" dirty="0"/>
              <a:t>Head Available</a:t>
            </a:r>
          </a:p>
          <a:p>
            <a:pPr marL="457200" indent="-457200">
              <a:buAutoNum type="arabicPeriod"/>
            </a:pPr>
            <a:r>
              <a:rPr lang="en-US" dirty="0"/>
              <a:t>Runaway speed</a:t>
            </a:r>
          </a:p>
          <a:p>
            <a:pPr marL="457200" indent="-457200">
              <a:buAutoNum type="arabicPeriod" startAt="5"/>
            </a:pPr>
            <a:r>
              <a:rPr lang="en-US" dirty="0"/>
              <a:t>Availability of water</a:t>
            </a:r>
          </a:p>
          <a:p>
            <a:pPr marL="457200" indent="-457200">
              <a:buAutoNum type="arabicPeriod" startAt="5"/>
            </a:pPr>
            <a:r>
              <a:rPr lang="en-US" dirty="0"/>
              <a:t>Number of units</a:t>
            </a:r>
          </a:p>
          <a:p>
            <a:pPr marL="457200" indent="-457200">
              <a:buAutoNum type="arabicPeriod" startAt="5"/>
            </a:pPr>
            <a:r>
              <a:rPr lang="en-US" dirty="0"/>
              <a:t>Cavitation</a:t>
            </a:r>
          </a:p>
          <a:p>
            <a:pPr marL="457200" indent="-457200">
              <a:buAutoNum type="arabicPeriod" startAt="5"/>
            </a:pPr>
            <a:r>
              <a:rPr lang="en-US" dirty="0"/>
              <a:t>Part load efficiency</a:t>
            </a:r>
          </a:p>
          <a:p>
            <a:pPr marL="457200" indent="-457200">
              <a:buAutoNum type="arabicPeriod" startAt="5"/>
            </a:pPr>
            <a:r>
              <a:rPr lang="en-US" dirty="0"/>
              <a:t>Maximum Efficiency</a:t>
            </a:r>
          </a:p>
          <a:p>
            <a:pPr marL="457200" indent="-457200">
              <a:buAutoNum type="arabicPeriod" startAt="5"/>
            </a:pPr>
            <a:r>
              <a:rPr lang="en-US" dirty="0"/>
              <a:t>Overall cost of plant</a:t>
            </a:r>
          </a:p>
          <a:p>
            <a:pPr marL="457200" indent="-457200">
              <a:buAutoNum type="arabicPeriod"/>
            </a:pPr>
            <a:endParaRPr lang="en-US" dirty="0"/>
          </a:p>
        </p:txBody>
      </p:sp>
    </p:spTree>
    <p:extLst>
      <p:ext uri="{BB962C8B-B14F-4D97-AF65-F5344CB8AC3E}">
        <p14:creationId xmlns:p14="http://schemas.microsoft.com/office/powerpoint/2010/main" xmlns="" val="2111363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081D4C-2550-4577-81B0-2554C8E28493}"/>
              </a:ext>
            </a:extLst>
          </p:cNvPr>
          <p:cNvSpPr>
            <a:spLocks noGrp="1"/>
          </p:cNvSpPr>
          <p:nvPr>
            <p:ph type="title"/>
          </p:nvPr>
        </p:nvSpPr>
        <p:spPr/>
        <p:txBody>
          <a:bodyPr/>
          <a:lstStyle/>
          <a:p>
            <a:r>
              <a:rPr lang="en-US" dirty="0"/>
              <a:t>Pelton Wheel turbine</a:t>
            </a:r>
          </a:p>
        </p:txBody>
      </p:sp>
      <p:sp>
        <p:nvSpPr>
          <p:cNvPr id="3" name="Content Placeholder 2">
            <a:extLst>
              <a:ext uri="{FF2B5EF4-FFF2-40B4-BE49-F238E27FC236}">
                <a16:creationId xmlns:a16="http://schemas.microsoft.com/office/drawing/2014/main" xmlns="" id="{F49A1702-A1D2-4730-8D7A-F4D82685D93D}"/>
              </a:ext>
            </a:extLst>
          </p:cNvPr>
          <p:cNvSpPr>
            <a:spLocks noGrp="1"/>
          </p:cNvSpPr>
          <p:nvPr>
            <p:ph idx="1"/>
          </p:nvPr>
        </p:nvSpPr>
        <p:spPr>
          <a:xfrm>
            <a:off x="1141412" y="1584251"/>
            <a:ext cx="9905999" cy="4206950"/>
          </a:xfrm>
        </p:spPr>
        <p:txBody>
          <a:bodyPr>
            <a:normAutofit fontScale="62500" lnSpcReduction="20000"/>
          </a:bodyPr>
          <a:lstStyle/>
          <a:p>
            <a:r>
              <a:rPr lang="en-US" dirty="0"/>
              <a:t>Pelton wheel Turbine is an impulse turbine, tangential flow, high head and low specific speed turbine Designed by L.A. Pelton, an American engineer.</a:t>
            </a:r>
          </a:p>
          <a:p>
            <a:r>
              <a:rPr lang="en-US" dirty="0"/>
              <a:t>Water from the reservoir flows through the penstock and at the Nozzle fitted at outlet of it coverts available head into Kinetic Energy. </a:t>
            </a:r>
          </a:p>
          <a:p>
            <a:r>
              <a:rPr lang="en-US" dirty="0"/>
              <a:t>A high velocity jet of water through the nozzle is made to strike the series of Buckets ( Vanes) mounted over the periphery of the runner making the runner revolving freely and consequently the shaft rotate keyed to the runner.</a:t>
            </a:r>
          </a:p>
          <a:p>
            <a:r>
              <a:rPr lang="en-US" dirty="0"/>
              <a:t>Generator is coupled with the shaft for generating electricity.</a:t>
            </a:r>
          </a:p>
          <a:p>
            <a:r>
              <a:rPr lang="en-US" dirty="0"/>
              <a:t>Important Parts are as follows:-</a:t>
            </a:r>
          </a:p>
          <a:p>
            <a:pPr marL="457200" indent="-457200">
              <a:buAutoNum type="arabicPeriod"/>
            </a:pPr>
            <a:r>
              <a:rPr lang="en-US" dirty="0"/>
              <a:t>Nozzle and Spear</a:t>
            </a:r>
          </a:p>
          <a:p>
            <a:pPr marL="457200" indent="-457200">
              <a:buAutoNum type="arabicPeriod"/>
            </a:pPr>
            <a:r>
              <a:rPr lang="en-US" dirty="0"/>
              <a:t>Runner with Buckets</a:t>
            </a:r>
          </a:p>
          <a:p>
            <a:pPr marL="457200" indent="-457200">
              <a:buAutoNum type="arabicPeriod"/>
            </a:pPr>
            <a:r>
              <a:rPr lang="en-US" dirty="0"/>
              <a:t>Casing</a:t>
            </a:r>
          </a:p>
          <a:p>
            <a:pPr marL="457200" indent="-457200">
              <a:buAutoNum type="arabicPeriod"/>
            </a:pPr>
            <a:r>
              <a:rPr lang="en-US" dirty="0"/>
              <a:t>Brake Nozzle</a:t>
            </a:r>
          </a:p>
        </p:txBody>
      </p:sp>
    </p:spTree>
    <p:extLst>
      <p:ext uri="{BB962C8B-B14F-4D97-AF65-F5344CB8AC3E}">
        <p14:creationId xmlns:p14="http://schemas.microsoft.com/office/powerpoint/2010/main" xmlns="" val="1255318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641DF2-F80C-4CB3-954D-8A76D0FB8A27}"/>
              </a:ext>
            </a:extLst>
          </p:cNvPr>
          <p:cNvSpPr>
            <a:spLocks noGrp="1"/>
          </p:cNvSpPr>
          <p:nvPr>
            <p:ph type="title"/>
          </p:nvPr>
        </p:nvSpPr>
        <p:spPr>
          <a:xfrm>
            <a:off x="1141413" y="618518"/>
            <a:ext cx="9905998" cy="721184"/>
          </a:xfrm>
        </p:spPr>
        <p:txBody>
          <a:bodyPr/>
          <a:lstStyle/>
          <a:p>
            <a:r>
              <a:rPr lang="en-US" dirty="0"/>
              <a:t>Pelton wheel turbine</a:t>
            </a:r>
          </a:p>
        </p:txBody>
      </p:sp>
      <p:pic>
        <p:nvPicPr>
          <p:cNvPr id="5" name="Content Placeholder 4">
            <a:extLst>
              <a:ext uri="{FF2B5EF4-FFF2-40B4-BE49-F238E27FC236}">
                <a16:creationId xmlns:a16="http://schemas.microsoft.com/office/drawing/2014/main" xmlns="" id="{AB7E9E85-BEFB-4ADD-B9EE-45C6298B922E}"/>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200940" y="1722474"/>
            <a:ext cx="6517758" cy="3721396"/>
          </a:xfrm>
        </p:spPr>
      </p:pic>
    </p:spTree>
    <p:extLst>
      <p:ext uri="{BB962C8B-B14F-4D97-AF65-F5344CB8AC3E}">
        <p14:creationId xmlns:p14="http://schemas.microsoft.com/office/powerpoint/2010/main" xmlns="" val="486579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101F2D-9BD1-4138-A52D-6743F0FBB14F}"/>
              </a:ext>
            </a:extLst>
          </p:cNvPr>
          <p:cNvSpPr>
            <a:spLocks noGrp="1"/>
          </p:cNvSpPr>
          <p:nvPr>
            <p:ph type="title"/>
          </p:nvPr>
        </p:nvSpPr>
        <p:spPr/>
        <p:txBody>
          <a:bodyPr/>
          <a:lstStyle/>
          <a:p>
            <a:r>
              <a:rPr lang="en-US" dirty="0"/>
              <a:t>Francis turbine</a:t>
            </a:r>
          </a:p>
        </p:txBody>
      </p:sp>
      <p:pic>
        <p:nvPicPr>
          <p:cNvPr id="5" name="Content Placeholder 4">
            <a:extLst>
              <a:ext uri="{FF2B5EF4-FFF2-40B4-BE49-F238E27FC236}">
                <a16:creationId xmlns:a16="http://schemas.microsoft.com/office/drawing/2014/main" xmlns="" id="{11B081DE-6475-42F8-9AF9-60B2F61E5368}"/>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658140" y="2243137"/>
            <a:ext cx="3147237" cy="2857500"/>
          </a:xfrm>
        </p:spPr>
      </p:pic>
    </p:spTree>
    <p:extLst>
      <p:ext uri="{BB962C8B-B14F-4D97-AF65-F5344CB8AC3E}">
        <p14:creationId xmlns:p14="http://schemas.microsoft.com/office/powerpoint/2010/main" xmlns="" val="1656431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E22DE-407B-46E3-AA2E-AC3BE5CE3B3E}"/>
              </a:ext>
            </a:extLst>
          </p:cNvPr>
          <p:cNvSpPr>
            <a:spLocks noGrp="1"/>
          </p:cNvSpPr>
          <p:nvPr>
            <p:ph type="title"/>
          </p:nvPr>
        </p:nvSpPr>
        <p:spPr/>
        <p:txBody>
          <a:bodyPr/>
          <a:lstStyle/>
          <a:p>
            <a:r>
              <a:rPr lang="en-US" dirty="0"/>
              <a:t>Francis Turbine</a:t>
            </a:r>
          </a:p>
        </p:txBody>
      </p:sp>
      <p:pic>
        <p:nvPicPr>
          <p:cNvPr id="5" name="Content Placeholder 4">
            <a:extLst>
              <a:ext uri="{FF2B5EF4-FFF2-40B4-BE49-F238E27FC236}">
                <a16:creationId xmlns:a16="http://schemas.microsoft.com/office/drawing/2014/main" xmlns="" id="{7EB72862-4006-4A31-8232-BD1FC4AACB6F}"/>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796363" y="2249488"/>
            <a:ext cx="6078293" cy="3541712"/>
          </a:xfrm>
        </p:spPr>
      </p:pic>
    </p:spTree>
    <p:extLst>
      <p:ext uri="{BB962C8B-B14F-4D97-AF65-F5344CB8AC3E}">
        <p14:creationId xmlns:p14="http://schemas.microsoft.com/office/powerpoint/2010/main" xmlns="" val="3783399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987D87-8CD0-4606-8922-D1C100C91415}"/>
              </a:ext>
            </a:extLst>
          </p:cNvPr>
          <p:cNvSpPr>
            <a:spLocks noGrp="1"/>
          </p:cNvSpPr>
          <p:nvPr>
            <p:ph type="title"/>
          </p:nvPr>
        </p:nvSpPr>
        <p:spPr/>
        <p:txBody>
          <a:bodyPr/>
          <a:lstStyle/>
          <a:p>
            <a:r>
              <a:rPr lang="en-US" dirty="0"/>
              <a:t>Kaplan turbine</a:t>
            </a:r>
          </a:p>
        </p:txBody>
      </p:sp>
      <p:pic>
        <p:nvPicPr>
          <p:cNvPr id="5" name="Content Placeholder 4">
            <a:extLst>
              <a:ext uri="{FF2B5EF4-FFF2-40B4-BE49-F238E27FC236}">
                <a16:creationId xmlns:a16="http://schemas.microsoft.com/office/drawing/2014/main" xmlns="" id="{B312306B-B109-4680-996B-327271AB59A2}"/>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4465638" y="2443956"/>
            <a:ext cx="3257550" cy="3152775"/>
          </a:xfrm>
        </p:spPr>
      </p:pic>
    </p:spTree>
    <p:extLst>
      <p:ext uri="{BB962C8B-B14F-4D97-AF65-F5344CB8AC3E}">
        <p14:creationId xmlns:p14="http://schemas.microsoft.com/office/powerpoint/2010/main" xmlns="" val="1961976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86BD49-BA78-43A7-8610-4A46EF63E69E}"/>
              </a:ext>
            </a:extLst>
          </p:cNvPr>
          <p:cNvSpPr>
            <a:spLocks noGrp="1"/>
          </p:cNvSpPr>
          <p:nvPr>
            <p:ph type="title"/>
          </p:nvPr>
        </p:nvSpPr>
        <p:spPr/>
        <p:txBody>
          <a:bodyPr/>
          <a:lstStyle/>
          <a:p>
            <a:r>
              <a:rPr lang="en-US" dirty="0"/>
              <a:t>Oil power hydraulic and pneumatic systems</a:t>
            </a:r>
          </a:p>
        </p:txBody>
      </p:sp>
      <p:sp>
        <p:nvSpPr>
          <p:cNvPr id="3" name="Content Placeholder 2">
            <a:extLst>
              <a:ext uri="{FF2B5EF4-FFF2-40B4-BE49-F238E27FC236}">
                <a16:creationId xmlns:a16="http://schemas.microsoft.com/office/drawing/2014/main" xmlns="" id="{B7CDD0F9-8DA1-46BB-833D-05BA14A446AB}"/>
              </a:ext>
            </a:extLst>
          </p:cNvPr>
          <p:cNvSpPr>
            <a:spLocks noGrp="1"/>
          </p:cNvSpPr>
          <p:nvPr>
            <p:ph idx="1"/>
          </p:nvPr>
        </p:nvSpPr>
        <p:spPr>
          <a:xfrm>
            <a:off x="616688" y="2249487"/>
            <a:ext cx="10430723" cy="3541714"/>
          </a:xfrm>
        </p:spPr>
        <p:txBody>
          <a:bodyPr/>
          <a:lstStyle/>
          <a:p>
            <a:r>
              <a:rPr lang="en-US" dirty="0"/>
              <a:t>Hydraulics System: Definition, components, merits and demerits and applications</a:t>
            </a:r>
          </a:p>
          <a:p>
            <a:r>
              <a:rPr lang="en-US" dirty="0"/>
              <a:t>Pneumatic System: Definition, components , merits and demerits and applications</a:t>
            </a:r>
          </a:p>
          <a:p>
            <a:r>
              <a:rPr lang="en-US" dirty="0"/>
              <a:t>Comparison of Hydraulic and Pneumatic Systems.</a:t>
            </a:r>
          </a:p>
          <a:p>
            <a:r>
              <a:rPr lang="en-US" dirty="0"/>
              <a:t>Hydraulic oil, Seals</a:t>
            </a:r>
          </a:p>
          <a:p>
            <a:endParaRPr lang="en-US" dirty="0"/>
          </a:p>
        </p:txBody>
      </p:sp>
    </p:spTree>
    <p:extLst>
      <p:ext uri="{BB962C8B-B14F-4D97-AF65-F5344CB8AC3E}">
        <p14:creationId xmlns:p14="http://schemas.microsoft.com/office/powerpoint/2010/main" xmlns="" val="1789459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Oil power hydraulics &amp; Pneumatics</a:t>
            </a:r>
            <a:endParaRPr lang="en-US" dirty="0"/>
          </a:p>
        </p:txBody>
      </p:sp>
      <p:sp>
        <p:nvSpPr>
          <p:cNvPr id="3" name="Content Placeholder 2"/>
          <p:cNvSpPr>
            <a:spLocks noGrp="1"/>
          </p:cNvSpPr>
          <p:nvPr>
            <p:ph idx="1"/>
          </p:nvPr>
        </p:nvSpPr>
        <p:spPr/>
        <p:txBody>
          <a:bodyPr/>
          <a:lstStyle/>
          <a:p>
            <a:r>
              <a:rPr lang="en-US" dirty="0" smtClean="0"/>
              <a:t>Oil Power hydraulics is that branch of fluid mechanics in hydraulic oil is used as working medium.</a:t>
            </a:r>
          </a:p>
          <a:p>
            <a:r>
              <a:rPr lang="en-US" dirty="0" smtClean="0"/>
              <a:t>Pneumatics is tht branch of engineering in which compressed air or any other  is used as working medium inoperating machines and equipments.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478762"/>
          </a:xfrm>
        </p:spPr>
        <p:txBody>
          <a:bodyPr>
            <a:normAutofit fontScale="90000"/>
          </a:bodyPr>
          <a:lstStyle/>
          <a:p>
            <a:r>
              <a:rPr lang="en-US" dirty="0" smtClean="0"/>
              <a:t>Merits &amp; Demerits of hydraulic system</a:t>
            </a:r>
            <a:endParaRPr lang="en-US" dirty="0"/>
          </a:p>
        </p:txBody>
      </p:sp>
      <p:sp>
        <p:nvSpPr>
          <p:cNvPr id="3" name="Content Placeholder 2"/>
          <p:cNvSpPr>
            <a:spLocks noGrp="1"/>
          </p:cNvSpPr>
          <p:nvPr>
            <p:ph idx="1"/>
          </p:nvPr>
        </p:nvSpPr>
        <p:spPr>
          <a:xfrm>
            <a:off x="1141412" y="1031966"/>
            <a:ext cx="9905999" cy="4759235"/>
          </a:xfrm>
        </p:spPr>
        <p:txBody>
          <a:bodyPr>
            <a:normAutofit fontScale="70000" lnSpcReduction="20000"/>
          </a:bodyPr>
          <a:lstStyle/>
          <a:p>
            <a:r>
              <a:rPr lang="en-US" dirty="0" smtClean="0"/>
              <a:t>Merit</a:t>
            </a:r>
          </a:p>
          <a:p>
            <a:pPr marL="457200" indent="-457200">
              <a:buAutoNum type="arabicPeriod"/>
            </a:pPr>
            <a:r>
              <a:rPr lang="en-US" dirty="0" smtClean="0"/>
              <a:t>As oil has more resistance to shear than water, it can transmit more shearing force.</a:t>
            </a:r>
          </a:p>
          <a:p>
            <a:pPr marL="457200" indent="-457200">
              <a:buAutoNum type="arabicPeriod"/>
            </a:pPr>
            <a:r>
              <a:rPr lang="en-US" dirty="0" smtClean="0"/>
              <a:t>Oil absorbs vibrations and shock load, if any, in a machine.</a:t>
            </a:r>
          </a:p>
          <a:p>
            <a:pPr marL="457200" indent="-457200">
              <a:buAutoNum type="arabicPeriod"/>
            </a:pPr>
            <a:r>
              <a:rPr lang="en-US" dirty="0" smtClean="0"/>
              <a:t>Speed of moving parts of a machine can be controlled easily.</a:t>
            </a:r>
          </a:p>
          <a:p>
            <a:pPr marL="457200" indent="-457200">
              <a:buAutoNum type="arabicPeriod"/>
            </a:pPr>
            <a:r>
              <a:rPr lang="en-US" dirty="0" smtClean="0"/>
              <a:t>Oil powered machines are self lubricating.</a:t>
            </a:r>
          </a:p>
          <a:p>
            <a:pPr marL="457200" indent="-457200">
              <a:buAutoNum type="arabicPeriod"/>
            </a:pPr>
            <a:r>
              <a:rPr lang="en-US" dirty="0" smtClean="0"/>
              <a:t>Oil powered machines need less maintenance.</a:t>
            </a:r>
          </a:p>
          <a:p>
            <a:pPr marL="457200" indent="-457200">
              <a:buAutoNum type="arabicPeriod"/>
            </a:pPr>
            <a:r>
              <a:rPr lang="en-US" dirty="0" smtClean="0"/>
              <a:t>Transmission of motion by oil is not easy.</a:t>
            </a:r>
          </a:p>
          <a:p>
            <a:pPr marL="457200" indent="-457200"/>
            <a:r>
              <a:rPr lang="en-US" dirty="0" smtClean="0"/>
              <a:t> Demeitr:-</a:t>
            </a:r>
          </a:p>
          <a:p>
            <a:pPr marL="457200" indent="-457200">
              <a:buAutoNum type="arabicPeriod"/>
            </a:pPr>
            <a:r>
              <a:rPr lang="en-US" dirty="0" smtClean="0"/>
              <a:t>Leakage of oil causes problems in maintenance work and makes the working arae dirty.</a:t>
            </a:r>
          </a:p>
          <a:p>
            <a:pPr marL="457200" indent="-457200">
              <a:buAutoNum type="arabicPeriod"/>
            </a:pPr>
            <a:r>
              <a:rPr lang="en-US" dirty="0" smtClean="0"/>
              <a:t>Chances of fire hazards are there.</a:t>
            </a:r>
          </a:p>
          <a:p>
            <a:pPr marL="457200" indent="-457200">
              <a:buAutoNum type="arabicPeriod"/>
            </a:pPr>
            <a:r>
              <a:rPr lang="en-US" dirty="0" smtClean="0"/>
              <a:t>At high temperature oil looses its viscosity and therefore needs to replaced under such conditions.</a:t>
            </a:r>
          </a:p>
          <a:p>
            <a:pPr marL="457200" indent="-457200">
              <a:buAutoNum type="arabicPeriod"/>
            </a:pPr>
            <a:r>
              <a:rPr lang="en-US" dirty="0" smtClean="0"/>
              <a:t>Oil powered machinery is costlier than water powered.</a:t>
            </a:r>
          </a:p>
          <a:p>
            <a:pPr marL="457200" indent="-457200">
              <a:buAutoNum type="arabicPeriod"/>
            </a:pPr>
            <a:endParaRPr lang="en-US" dirty="0" smtClean="0"/>
          </a:p>
          <a:p>
            <a:pPr marL="457200" indent="-457200">
              <a:buAutoNum type="arabicPeriod"/>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oil power hydraulics</a:t>
            </a:r>
            <a:endParaRPr lang="en-US" dirty="0"/>
          </a:p>
        </p:txBody>
      </p:sp>
      <p:sp>
        <p:nvSpPr>
          <p:cNvPr id="3" name="Content Placeholder 2"/>
          <p:cNvSpPr>
            <a:spLocks noGrp="1"/>
          </p:cNvSpPr>
          <p:nvPr>
            <p:ph idx="1"/>
          </p:nvPr>
        </p:nvSpPr>
        <p:spPr/>
        <p:txBody>
          <a:bodyPr/>
          <a:lstStyle/>
          <a:p>
            <a:pPr marL="457200" indent="-457200">
              <a:buAutoNum type="arabicPeriod"/>
            </a:pPr>
            <a:r>
              <a:rPr lang="en-US" dirty="0" smtClean="0"/>
              <a:t>Operation of shaping machine</a:t>
            </a:r>
          </a:p>
          <a:p>
            <a:pPr marL="457200" indent="-457200">
              <a:buAutoNum type="arabicPeriod"/>
            </a:pPr>
            <a:r>
              <a:rPr lang="en-US" dirty="0" smtClean="0"/>
              <a:t>In Press Hammering</a:t>
            </a:r>
          </a:p>
          <a:p>
            <a:pPr marL="457200" indent="-457200">
              <a:buAutoNum type="arabicPeriod"/>
            </a:pPr>
            <a:r>
              <a:rPr lang="en-US" dirty="0" smtClean="0"/>
              <a:t>Hydraulic Vice</a:t>
            </a:r>
          </a:p>
          <a:p>
            <a:pPr marL="457200" indent="-457200">
              <a:buAutoNum type="arabicPeriod"/>
            </a:pPr>
            <a:r>
              <a:rPr lang="en-US" dirty="0" smtClean="0"/>
              <a:t>Earth moving machines</a:t>
            </a:r>
          </a:p>
          <a:p>
            <a:pPr marL="457200" indent="-457200">
              <a:buAutoNum type="arabicPeriod"/>
            </a:pPr>
            <a:r>
              <a:rPr lang="en-US" dirty="0" smtClean="0"/>
              <a:t>In drilling operation during oil exploration.</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Merits and Demerits of pneumatic system</a:t>
            </a:r>
            <a:endParaRPr lang="en-US"/>
          </a:p>
        </p:txBody>
      </p:sp>
      <p:sp>
        <p:nvSpPr>
          <p:cNvPr id="3" name="Content Placeholder 2"/>
          <p:cNvSpPr>
            <a:spLocks noGrp="1"/>
          </p:cNvSpPr>
          <p:nvPr>
            <p:ph idx="1"/>
          </p:nvPr>
        </p:nvSpPr>
        <p:spPr/>
        <p:txBody>
          <a:bodyPr>
            <a:normAutofit fontScale="62500" lnSpcReduction="20000"/>
          </a:bodyPr>
          <a:lstStyle/>
          <a:p>
            <a:r>
              <a:rPr lang="en-US" dirty="0" smtClean="0"/>
              <a:t>Merits:-</a:t>
            </a:r>
          </a:p>
          <a:p>
            <a:pPr marL="457200" indent="-457200">
              <a:buAutoNum type="arabicPeriod"/>
            </a:pPr>
            <a:r>
              <a:rPr lang="en-US" dirty="0" smtClean="0"/>
              <a:t>Air is freely available in nature without any cost.</a:t>
            </a:r>
          </a:p>
          <a:p>
            <a:pPr marL="457200" indent="-457200">
              <a:buAutoNum type="arabicPeriod"/>
            </a:pPr>
            <a:r>
              <a:rPr lang="en-US" dirty="0" smtClean="0"/>
              <a:t>Wear and tear of the parts using air as the working medium is less resulting in lower maintenance.</a:t>
            </a:r>
          </a:p>
          <a:p>
            <a:pPr marL="457200" indent="-457200">
              <a:buAutoNum type="arabicPeriod"/>
            </a:pPr>
            <a:r>
              <a:rPr lang="en-US" dirty="0" smtClean="0"/>
              <a:t>More effective gripping as compared to hydraulic system</a:t>
            </a:r>
          </a:p>
          <a:p>
            <a:pPr marL="457200" indent="-457200">
              <a:buAutoNum type="arabicPeriod"/>
            </a:pPr>
            <a:r>
              <a:rPr lang="en-US" dirty="0" smtClean="0"/>
              <a:t>As chances of fire hazards are not there, making thses system suitable for use in coal mines and other fire prone areas of manufacturing.</a:t>
            </a:r>
          </a:p>
          <a:p>
            <a:pPr marL="457200" indent="-457200"/>
            <a:r>
              <a:rPr lang="en-US" dirty="0" smtClean="0"/>
              <a:t>Demerits:-</a:t>
            </a:r>
          </a:p>
          <a:p>
            <a:pPr marL="457200" indent="-457200">
              <a:buAutoNum type="arabicPeriod"/>
            </a:pPr>
            <a:r>
              <a:rPr lang="en-US" dirty="0" smtClean="0"/>
              <a:t>Storage vessel is required to store the compressed air, hence additional equipment is required in thses system.</a:t>
            </a:r>
          </a:p>
          <a:p>
            <a:pPr marL="457200" indent="-457200">
              <a:buAutoNum type="arabicPeriod"/>
            </a:pPr>
            <a:r>
              <a:rPr lang="en-US" dirty="0" smtClean="0"/>
              <a:t>Chances of leakage of air from pressure side to low pressure side.</a:t>
            </a:r>
          </a:p>
          <a:p>
            <a:pPr marL="457200" indent="-457200">
              <a:buAutoNum type="arabicPeriod"/>
            </a:pPr>
            <a:r>
              <a:rPr lang="en-US" dirty="0" smtClean="0"/>
              <a:t>It is not economical to use pneumatic system for small scale production unit.</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pneumatic system</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The following are the applications of pneumatic system:-</a:t>
            </a:r>
          </a:p>
          <a:p>
            <a:pPr marL="457200" indent="-457200">
              <a:buAutoNum type="arabicPeriod"/>
            </a:pPr>
            <a:r>
              <a:rPr lang="en-US" dirty="0" smtClean="0"/>
              <a:t>Pneumatic tools</a:t>
            </a:r>
          </a:p>
          <a:p>
            <a:pPr marL="457200" indent="-457200">
              <a:buAutoNum type="arabicPeriod"/>
            </a:pPr>
            <a:r>
              <a:rPr lang="en-US" dirty="0" smtClean="0"/>
              <a:t>Pneumatic drills and chucks</a:t>
            </a:r>
          </a:p>
          <a:p>
            <a:pPr marL="457200" indent="-457200">
              <a:buAutoNum type="arabicPeriod"/>
            </a:pPr>
            <a:r>
              <a:rPr lang="en-US" dirty="0" smtClean="0"/>
              <a:t>Operating air motor</a:t>
            </a:r>
          </a:p>
          <a:p>
            <a:pPr marL="457200" indent="-457200">
              <a:buAutoNum type="arabicPeriod"/>
            </a:pPr>
            <a:r>
              <a:rPr lang="en-US" dirty="0" smtClean="0"/>
              <a:t>Operating spray paint gun</a:t>
            </a:r>
          </a:p>
          <a:p>
            <a:pPr marL="457200" indent="-457200">
              <a:buAutoNum type="arabicPeriod"/>
            </a:pPr>
            <a:r>
              <a:rPr lang="en-US" dirty="0" smtClean="0"/>
              <a:t>Operating the blower.</a:t>
            </a:r>
          </a:p>
          <a:p>
            <a:pPr marL="457200" indent="-457200">
              <a:buAutoNum type="arabicPeriod"/>
            </a:pPr>
            <a:r>
              <a:rPr lang="en-US" dirty="0" smtClean="0"/>
              <a:t>Pneumatic brakes in locomotives.</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09836"/>
          </a:xfrm>
        </p:spPr>
        <p:txBody>
          <a:bodyPr/>
          <a:lstStyle/>
          <a:p>
            <a:r>
              <a:rPr lang="en-US" dirty="0" smtClean="0"/>
              <a:t>Basic components of hydraulic system</a:t>
            </a:r>
            <a:endParaRPr lang="en-US" dirty="0"/>
          </a:p>
        </p:txBody>
      </p:sp>
      <p:sp>
        <p:nvSpPr>
          <p:cNvPr id="3" name="Content Placeholder 2"/>
          <p:cNvSpPr>
            <a:spLocks noGrp="1"/>
          </p:cNvSpPr>
          <p:nvPr>
            <p:ph idx="1"/>
          </p:nvPr>
        </p:nvSpPr>
        <p:spPr/>
        <p:txBody>
          <a:bodyPr>
            <a:normAutofit fontScale="92500" lnSpcReduction="10000"/>
          </a:bodyPr>
          <a:lstStyle/>
          <a:p>
            <a:pPr marL="457200" indent="-457200">
              <a:buAutoNum type="arabicPeriod"/>
            </a:pPr>
            <a:r>
              <a:rPr lang="en-US" dirty="0" smtClean="0"/>
              <a:t>Oil reservoir</a:t>
            </a:r>
          </a:p>
          <a:p>
            <a:pPr marL="457200" indent="-457200">
              <a:buAutoNum type="arabicPeriod"/>
            </a:pPr>
            <a:r>
              <a:rPr lang="en-US" dirty="0" smtClean="0"/>
              <a:t>Pump</a:t>
            </a:r>
          </a:p>
          <a:p>
            <a:pPr marL="457200" indent="-457200">
              <a:buAutoNum type="arabicPeriod"/>
            </a:pPr>
            <a:r>
              <a:rPr lang="en-US" dirty="0" smtClean="0"/>
              <a:t>Valves</a:t>
            </a:r>
          </a:p>
          <a:p>
            <a:pPr marL="457200" indent="-457200">
              <a:buAutoNum type="arabicPeriod"/>
            </a:pPr>
            <a:r>
              <a:rPr lang="en-US" dirty="0" smtClean="0"/>
              <a:t>Filters</a:t>
            </a:r>
          </a:p>
          <a:p>
            <a:pPr marL="457200" indent="-457200">
              <a:buAutoNum type="arabicPeriod"/>
            </a:pPr>
            <a:r>
              <a:rPr lang="en-US" dirty="0" smtClean="0"/>
              <a:t>Seals</a:t>
            </a:r>
          </a:p>
          <a:p>
            <a:pPr marL="457200" indent="-457200">
              <a:buAutoNum type="arabicPeriod"/>
            </a:pPr>
            <a:r>
              <a:rPr lang="en-US" dirty="0" smtClean="0"/>
              <a:t>Pipe</a:t>
            </a:r>
          </a:p>
          <a:p>
            <a:pPr marL="457200" indent="-457200">
              <a:buAutoNum type="arabicPeriod"/>
            </a:pPr>
            <a:r>
              <a:rPr lang="en-US" dirty="0" smtClean="0"/>
              <a:t>Actuators</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7B3BA-BFA4-4FCA-BD4C-74697B2D6347}"/>
              </a:ext>
            </a:extLst>
          </p:cNvPr>
          <p:cNvSpPr>
            <a:spLocks noGrp="1"/>
          </p:cNvSpPr>
          <p:nvPr>
            <p:ph type="title"/>
          </p:nvPr>
        </p:nvSpPr>
        <p:spPr>
          <a:xfrm>
            <a:off x="1141413" y="618518"/>
            <a:ext cx="9905998" cy="935962"/>
          </a:xfrm>
        </p:spPr>
        <p:txBody>
          <a:bodyPr/>
          <a:lstStyle/>
          <a:p>
            <a:r>
              <a:rPr lang="en-US" dirty="0" smtClean="0"/>
              <a:t>Basic components of hydraulic system</a:t>
            </a:r>
            <a:endParaRPr lang="en-US" dirty="0"/>
          </a:p>
        </p:txBody>
      </p:sp>
      <p:pic>
        <p:nvPicPr>
          <p:cNvPr id="5" name="Content Placeholder 4">
            <a:extLst>
              <a:ext uri="{FF2B5EF4-FFF2-40B4-BE49-F238E27FC236}">
                <a16:creationId xmlns:a16="http://schemas.microsoft.com/office/drawing/2014/main" xmlns="" id="{90EC21EE-82E8-4595-9713-42031E799793}"/>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076994" y="1881052"/>
            <a:ext cx="7406640" cy="3525180"/>
          </a:xfrm>
        </p:spPr>
      </p:pic>
    </p:spTree>
    <p:extLst>
      <p:ext uri="{BB962C8B-B14F-4D97-AF65-F5344CB8AC3E}">
        <p14:creationId xmlns:p14="http://schemas.microsoft.com/office/powerpoint/2010/main" xmlns="" val="2841737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Hydraulic oil</a:t>
            </a:r>
            <a:endParaRPr lang="en-US" dirty="0"/>
          </a:p>
        </p:txBody>
      </p:sp>
      <p:sp>
        <p:nvSpPr>
          <p:cNvPr id="3" name="Content Placeholder 2"/>
          <p:cNvSpPr>
            <a:spLocks noGrp="1"/>
          </p:cNvSpPr>
          <p:nvPr>
            <p:ph idx="1"/>
          </p:nvPr>
        </p:nvSpPr>
        <p:spPr>
          <a:xfrm>
            <a:off x="1141412" y="1632857"/>
            <a:ext cx="9905999" cy="4297680"/>
          </a:xfrm>
        </p:spPr>
        <p:txBody>
          <a:bodyPr>
            <a:normAutofit lnSpcReduction="10000"/>
          </a:bodyPr>
          <a:lstStyle/>
          <a:p>
            <a:r>
              <a:rPr lang="en-US" dirty="0" smtClean="0"/>
              <a:t>The major function of hydraulic oil is to provide energy transmission through the system.</a:t>
            </a:r>
          </a:p>
          <a:p>
            <a:r>
              <a:rPr lang="en-US" dirty="0" smtClean="0"/>
              <a:t>The most common oil used is petroleum based mineral oil.</a:t>
            </a:r>
          </a:p>
          <a:p>
            <a:pPr>
              <a:buNone/>
            </a:pPr>
            <a:r>
              <a:rPr lang="en-US" dirty="0" smtClean="0"/>
              <a:t>Besides transmitting energy, it performs various functions which are as follows:-</a:t>
            </a:r>
          </a:p>
          <a:p>
            <a:pPr marL="457200" indent="-457200">
              <a:buAutoNum type="arabicPeriod"/>
            </a:pPr>
            <a:r>
              <a:rPr lang="en-US" dirty="0" smtClean="0"/>
              <a:t>Lubrication</a:t>
            </a:r>
          </a:p>
          <a:p>
            <a:pPr marL="457200" indent="-457200">
              <a:buAutoNum type="arabicPeriod"/>
            </a:pPr>
            <a:r>
              <a:rPr lang="en-US" dirty="0" smtClean="0"/>
              <a:t>Cooling</a:t>
            </a:r>
          </a:p>
          <a:p>
            <a:pPr marL="457200" indent="-457200">
              <a:buAutoNum type="arabicPeriod"/>
            </a:pPr>
            <a:r>
              <a:rPr lang="en-US" dirty="0" smtClean="0"/>
              <a:t>Sealing</a:t>
            </a:r>
          </a:p>
          <a:p>
            <a:pPr marL="457200" indent="-457200">
              <a:buAutoNum type="arabicPeriod"/>
            </a:pPr>
            <a:r>
              <a:rPr lang="en-US" dirty="0" smtClean="0"/>
              <a:t>Removal of contamination</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883711"/>
          </a:xfrm>
        </p:spPr>
        <p:txBody>
          <a:bodyPr/>
          <a:lstStyle/>
          <a:p>
            <a:r>
              <a:rPr lang="en-US" dirty="0" smtClean="0"/>
              <a:t>Types of minerals</a:t>
            </a:r>
            <a:endParaRPr lang="en-US" dirty="0"/>
          </a:p>
        </p:txBody>
      </p:sp>
      <p:sp>
        <p:nvSpPr>
          <p:cNvPr id="3" name="Content Placeholder 2"/>
          <p:cNvSpPr>
            <a:spLocks noGrp="1"/>
          </p:cNvSpPr>
          <p:nvPr>
            <p:ph idx="1"/>
          </p:nvPr>
        </p:nvSpPr>
        <p:spPr/>
        <p:txBody>
          <a:bodyPr/>
          <a:lstStyle/>
          <a:p>
            <a:pPr>
              <a:buNone/>
            </a:pPr>
            <a:r>
              <a:rPr lang="en-US" dirty="0" smtClean="0"/>
              <a:t>1. Mineral oils</a:t>
            </a:r>
          </a:p>
          <a:p>
            <a:pPr>
              <a:buNone/>
            </a:pPr>
            <a:r>
              <a:rPr lang="en-US" dirty="0" smtClean="0"/>
              <a:t>2. Emulsions:-</a:t>
            </a:r>
          </a:p>
          <a:p>
            <a:pPr marL="514350" indent="-514350">
              <a:buAutoNum type="romanLcParenBoth"/>
            </a:pPr>
            <a:r>
              <a:rPr lang="en-US" dirty="0" smtClean="0"/>
              <a:t>Oil-in-Water Emusions</a:t>
            </a:r>
          </a:p>
          <a:p>
            <a:pPr marL="514350" indent="-514350">
              <a:buAutoNum type="romanLcParenBoth"/>
            </a:pPr>
            <a:r>
              <a:rPr lang="en-US" dirty="0" smtClean="0"/>
              <a:t>Water-in-oil Emulsion</a:t>
            </a:r>
          </a:p>
          <a:p>
            <a:pPr marL="514350" indent="-514350">
              <a:buNone/>
            </a:pPr>
            <a:r>
              <a:rPr lang="en-US" dirty="0" smtClean="0"/>
              <a:t>3. Vegetable Oils</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22453"/>
          </a:xfrm>
        </p:spPr>
        <p:txBody>
          <a:bodyPr/>
          <a:lstStyle/>
          <a:p>
            <a:r>
              <a:rPr lang="en-US" dirty="0" smtClean="0"/>
              <a:t>Properties of an ideal hydraulic oil</a:t>
            </a:r>
            <a:endParaRPr lang="en-US" dirty="0"/>
          </a:p>
        </p:txBody>
      </p:sp>
      <p:sp>
        <p:nvSpPr>
          <p:cNvPr id="3" name="Content Placeholder 2"/>
          <p:cNvSpPr>
            <a:spLocks noGrp="1"/>
          </p:cNvSpPr>
          <p:nvPr>
            <p:ph idx="1"/>
          </p:nvPr>
        </p:nvSpPr>
        <p:spPr>
          <a:xfrm>
            <a:off x="1141412" y="1254034"/>
            <a:ext cx="9905999" cy="4537167"/>
          </a:xfrm>
        </p:spPr>
        <p:txBody>
          <a:bodyPr>
            <a:normAutofit fontScale="85000" lnSpcReduction="20000"/>
          </a:bodyPr>
          <a:lstStyle/>
          <a:p>
            <a:pPr marL="457200" indent="-457200">
              <a:buAutoNum type="arabicPeriod"/>
            </a:pPr>
            <a:r>
              <a:rPr lang="en-US" dirty="0" smtClean="0"/>
              <a:t>Viscosity should be ideal</a:t>
            </a:r>
          </a:p>
          <a:p>
            <a:pPr marL="457200" indent="-457200">
              <a:buAutoNum type="arabicPeriod"/>
            </a:pPr>
            <a:r>
              <a:rPr lang="en-US" dirty="0" smtClean="0"/>
              <a:t>Lubricating properties should be good.</a:t>
            </a:r>
          </a:p>
          <a:p>
            <a:pPr marL="457200" indent="-457200">
              <a:buAutoNum type="arabicPeriod"/>
            </a:pPr>
            <a:r>
              <a:rPr lang="en-US" dirty="0" smtClean="0"/>
              <a:t>Should be chemically and environmentally stable.</a:t>
            </a:r>
          </a:p>
          <a:p>
            <a:pPr marL="457200" indent="-457200">
              <a:buAutoNum type="arabicPeriod"/>
            </a:pPr>
            <a:r>
              <a:rPr lang="en-US" dirty="0" smtClean="0"/>
              <a:t>Should be in incompressible</a:t>
            </a:r>
          </a:p>
          <a:p>
            <a:pPr marL="457200" indent="-457200">
              <a:buAutoNum type="arabicPeriod"/>
            </a:pPr>
            <a:r>
              <a:rPr lang="en-US" dirty="0" smtClean="0"/>
              <a:t>Should be fire resistant.</a:t>
            </a:r>
          </a:p>
          <a:p>
            <a:pPr marL="457200" indent="-457200">
              <a:buAutoNum type="arabicPeriod"/>
            </a:pPr>
            <a:r>
              <a:rPr lang="en-US" dirty="0" smtClean="0"/>
              <a:t>Low flammability.</a:t>
            </a:r>
          </a:p>
          <a:p>
            <a:pPr marL="457200" indent="-457200">
              <a:buAutoNum type="arabicPeriod"/>
            </a:pPr>
            <a:r>
              <a:rPr lang="en-US" dirty="0" smtClean="0"/>
              <a:t>Foam resitance.</a:t>
            </a:r>
          </a:p>
          <a:p>
            <a:pPr marL="457200" indent="-457200">
              <a:buAutoNum type="arabicPeriod"/>
            </a:pPr>
            <a:r>
              <a:rPr lang="en-US" dirty="0" smtClean="0"/>
              <a:t>Volatility should be low.</a:t>
            </a:r>
          </a:p>
          <a:p>
            <a:pPr marL="457200" indent="-457200">
              <a:buAutoNum type="arabicPeriod"/>
            </a:pPr>
            <a:r>
              <a:rPr lang="en-US" dirty="0" smtClean="0"/>
              <a:t>Heat Dissipation ability should be good.</a:t>
            </a:r>
          </a:p>
          <a:p>
            <a:pPr marL="457200" indent="-457200">
              <a:buAutoNum type="arabicPeriod"/>
            </a:pPr>
            <a:r>
              <a:rPr lang="en-US" dirty="0" smtClean="0"/>
              <a:t> Density should be low.</a:t>
            </a:r>
          </a:p>
          <a:p>
            <a:pPr marL="457200" indent="-457200">
              <a:buAutoNum type="arabicPeriod"/>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22453"/>
          </a:xfrm>
        </p:spPr>
        <p:txBody>
          <a:bodyPr/>
          <a:lstStyle/>
          <a:p>
            <a:r>
              <a:rPr lang="en-US" dirty="0" smtClean="0"/>
              <a:t>Seals</a:t>
            </a:r>
            <a:endParaRPr lang="en-US" dirty="0"/>
          </a:p>
        </p:txBody>
      </p:sp>
      <p:sp>
        <p:nvSpPr>
          <p:cNvPr id="3" name="Content Placeholder 2"/>
          <p:cNvSpPr>
            <a:spLocks noGrp="1"/>
          </p:cNvSpPr>
          <p:nvPr>
            <p:ph idx="1"/>
          </p:nvPr>
        </p:nvSpPr>
        <p:spPr>
          <a:xfrm>
            <a:off x="1141412" y="1254034"/>
            <a:ext cx="9905999" cy="4537167"/>
          </a:xfrm>
        </p:spPr>
        <p:txBody>
          <a:bodyPr/>
          <a:lstStyle/>
          <a:p>
            <a:r>
              <a:rPr lang="en-US" dirty="0" smtClean="0"/>
              <a:t>Seal is a material which is used in the hydraulic system to prevent leakage of oil.</a:t>
            </a:r>
          </a:p>
          <a:p>
            <a:r>
              <a:rPr lang="en-US" dirty="0" smtClean="0"/>
              <a:t>Use of seals increases efficiency. </a:t>
            </a:r>
          </a:p>
          <a:p>
            <a:r>
              <a:rPr lang="en-US" dirty="0" smtClean="0"/>
              <a:t>Prevent loss of power. </a:t>
            </a:r>
          </a:p>
          <a:p>
            <a:r>
              <a:rPr lang="en-US" dirty="0" smtClean="0"/>
              <a:t>Prevent failure of components such as valves etc</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00831"/>
          </a:xfrm>
        </p:spPr>
        <p:txBody>
          <a:bodyPr>
            <a:normAutofit fontScale="90000"/>
          </a:bodyPr>
          <a:lstStyle/>
          <a:p>
            <a:r>
              <a:rPr lang="en-US" dirty="0" smtClean="0"/>
              <a:t>Classification of seals</a:t>
            </a:r>
            <a:br>
              <a:rPr lang="en-US" dirty="0" smtClean="0"/>
            </a:br>
            <a:endParaRPr lang="en-US" dirty="0"/>
          </a:p>
        </p:txBody>
      </p:sp>
      <p:sp>
        <p:nvSpPr>
          <p:cNvPr id="3" name="Content Placeholder 2"/>
          <p:cNvSpPr>
            <a:spLocks noGrp="1"/>
          </p:cNvSpPr>
          <p:nvPr>
            <p:ph idx="1"/>
          </p:nvPr>
        </p:nvSpPr>
        <p:spPr>
          <a:xfrm>
            <a:off x="1141412" y="1188720"/>
            <a:ext cx="9905999" cy="4602481"/>
          </a:xfrm>
        </p:spPr>
        <p:txBody>
          <a:bodyPr/>
          <a:lstStyle/>
          <a:p>
            <a:pPr marL="457200" indent="-457200">
              <a:buAutoNum type="arabicPeriod"/>
            </a:pPr>
            <a:r>
              <a:rPr lang="en-US" dirty="0" smtClean="0"/>
              <a:t>Positive and non-positive seals:- Positive seals do not permit any leakage of oil and non-positivve seals permit a small amount of leakage of oil to the extent of providing lubricating film on the rotating parts.</a:t>
            </a:r>
          </a:p>
          <a:p>
            <a:pPr marL="457200" indent="-457200">
              <a:buAutoNum type="arabicPeriod"/>
            </a:pPr>
            <a:r>
              <a:rPr lang="en-US" dirty="0" smtClean="0"/>
              <a:t>Static and Dynamic seals:- Static seals prevent leakage of oil through stationey surfaces. Dynamic seals prevent leakage of oil around rotating or moving parts.</a:t>
            </a:r>
          </a:p>
          <a:p>
            <a:pPr marL="457200" indent="-457200">
              <a:buAutoNum type="arabicPeriod"/>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oil seals</a:t>
            </a:r>
            <a:endParaRPr lang="en-US" dirty="0"/>
          </a:p>
        </p:txBody>
      </p:sp>
      <p:sp>
        <p:nvSpPr>
          <p:cNvPr id="3" name="Content Placeholder 2"/>
          <p:cNvSpPr>
            <a:spLocks noGrp="1"/>
          </p:cNvSpPr>
          <p:nvPr>
            <p:ph idx="1"/>
          </p:nvPr>
        </p:nvSpPr>
        <p:spPr/>
        <p:txBody>
          <a:bodyPr/>
          <a:lstStyle/>
          <a:p>
            <a:pPr marL="457200" indent="-457200">
              <a:buAutoNum type="arabicPeriod"/>
            </a:pPr>
            <a:r>
              <a:rPr lang="en-US" dirty="0" smtClean="0"/>
              <a:t>Gaskets</a:t>
            </a:r>
          </a:p>
          <a:p>
            <a:pPr marL="457200" indent="-457200">
              <a:buAutoNum type="arabicPeriod"/>
            </a:pPr>
            <a:r>
              <a:rPr lang="en-US" dirty="0" smtClean="0"/>
              <a:t>O-rings</a:t>
            </a:r>
          </a:p>
          <a:p>
            <a:pPr marL="457200" indent="-457200">
              <a:buAutoNum type="arabicPeriod"/>
            </a:pPr>
            <a:r>
              <a:rPr lang="en-US" dirty="0" smtClean="0"/>
              <a:t>Packing</a:t>
            </a:r>
          </a:p>
          <a:p>
            <a:pPr marL="457200" indent="-457200">
              <a:buAutoNum type="arabicPeriod"/>
            </a:pPr>
            <a:r>
              <a:rPr lang="en-US" dirty="0" smtClean="0"/>
              <a:t>Wiperrings</a:t>
            </a:r>
          </a:p>
          <a:p>
            <a:pPr marL="457200" indent="-457200">
              <a:buAutoNum type="arabicPeriod"/>
            </a:pPr>
            <a:r>
              <a:rPr lang="en-US" dirty="0" smtClean="0"/>
              <a:t>Piston rings</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Commonly used seal material</a:t>
            </a:r>
            <a:endParaRPr lang="en-US" dirty="0"/>
          </a:p>
        </p:txBody>
      </p:sp>
      <p:sp>
        <p:nvSpPr>
          <p:cNvPr id="3" name="Content Placeholder 2"/>
          <p:cNvSpPr>
            <a:spLocks noGrp="1"/>
          </p:cNvSpPr>
          <p:nvPr>
            <p:ph idx="1"/>
          </p:nvPr>
        </p:nvSpPr>
        <p:spPr/>
        <p:txBody>
          <a:bodyPr/>
          <a:lstStyle/>
          <a:p>
            <a:pPr marL="457200" indent="-457200">
              <a:buAutoNum type="arabicPeriod"/>
            </a:pPr>
            <a:r>
              <a:rPr lang="en-US" dirty="0" smtClean="0"/>
              <a:t>Leather</a:t>
            </a:r>
          </a:p>
          <a:p>
            <a:pPr marL="457200" indent="-457200">
              <a:buAutoNum type="arabicPeriod"/>
            </a:pPr>
            <a:r>
              <a:rPr lang="en-US" dirty="0" smtClean="0"/>
              <a:t>Metal</a:t>
            </a:r>
          </a:p>
          <a:p>
            <a:pPr marL="457200" indent="-457200">
              <a:buAutoNum type="arabicPeriod"/>
            </a:pPr>
            <a:r>
              <a:rPr lang="en-US" dirty="0" smtClean="0"/>
              <a:t>Asbestos</a:t>
            </a:r>
          </a:p>
          <a:p>
            <a:pPr marL="457200" indent="-457200">
              <a:buAutoNum type="arabicPeriod"/>
            </a:pPr>
            <a:r>
              <a:rPr lang="en-US" dirty="0" smtClean="0"/>
              <a:t>Rubber, Elastomers and Plastics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 of good sealing materials</a:t>
            </a:r>
            <a:endParaRPr lang="en-US" dirty="0"/>
          </a:p>
        </p:txBody>
      </p:sp>
      <p:sp>
        <p:nvSpPr>
          <p:cNvPr id="3" name="Content Placeholder 2"/>
          <p:cNvSpPr>
            <a:spLocks noGrp="1"/>
          </p:cNvSpPr>
          <p:nvPr>
            <p:ph idx="1"/>
          </p:nvPr>
        </p:nvSpPr>
        <p:spPr/>
        <p:txBody>
          <a:bodyPr/>
          <a:lstStyle/>
          <a:p>
            <a:pPr marL="457200" indent="-457200">
              <a:buAutoNum type="arabicPeriod"/>
            </a:pPr>
            <a:r>
              <a:rPr lang="en-US" dirty="0" smtClean="0"/>
              <a:t>Should resist wear and abrasion</a:t>
            </a:r>
          </a:p>
          <a:p>
            <a:pPr marL="457200" indent="-457200">
              <a:buAutoNum type="arabicPeriod"/>
            </a:pPr>
            <a:r>
              <a:rPr lang="en-US" dirty="0" smtClean="0"/>
              <a:t>Should recover from deformation quickly.</a:t>
            </a:r>
          </a:p>
          <a:p>
            <a:pPr marL="457200" indent="-457200">
              <a:buAutoNum type="arabicPeriod"/>
            </a:pPr>
            <a:r>
              <a:rPr lang="en-US" dirty="0" smtClean="0"/>
              <a:t>Should resist harmful effects such as deterioration, excessive swelling and shrinkage caused by acids</a:t>
            </a:r>
          </a:p>
          <a:p>
            <a:pPr marL="457200" indent="-457200">
              <a:buAutoNum type="arabicPeriod"/>
            </a:pPr>
            <a:r>
              <a:rPr lang="en-US" dirty="0" smtClean="0"/>
              <a:t>Should withstand system temperature and pressure without leakage.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faults in hydraulic system</a:t>
            </a:r>
            <a:endParaRPr lang="en-US" dirty="0"/>
          </a:p>
        </p:txBody>
      </p:sp>
      <p:sp>
        <p:nvSpPr>
          <p:cNvPr id="3" name="Content Placeholder 2"/>
          <p:cNvSpPr>
            <a:spLocks noGrp="1"/>
          </p:cNvSpPr>
          <p:nvPr>
            <p:ph idx="1"/>
          </p:nvPr>
        </p:nvSpPr>
        <p:spPr/>
        <p:txBody>
          <a:bodyPr>
            <a:normAutofit fontScale="85000" lnSpcReduction="20000"/>
          </a:bodyPr>
          <a:lstStyle/>
          <a:p>
            <a:pPr marL="457200" indent="-457200">
              <a:buAutoNum type="arabicPeriod"/>
            </a:pPr>
            <a:r>
              <a:rPr lang="en-US" dirty="0" smtClean="0"/>
              <a:t>Sharp noise in the system</a:t>
            </a:r>
          </a:p>
          <a:p>
            <a:pPr marL="457200" indent="-457200">
              <a:buAutoNum type="arabicPeriod"/>
            </a:pPr>
            <a:r>
              <a:rPr lang="en-US" dirty="0" smtClean="0"/>
              <a:t>High rate of seal failure.</a:t>
            </a:r>
          </a:p>
          <a:p>
            <a:pPr marL="457200" indent="-457200">
              <a:buAutoNum type="arabicPeriod"/>
            </a:pPr>
            <a:r>
              <a:rPr lang="en-US" dirty="0" smtClean="0"/>
              <a:t>Excessive leakage in the system</a:t>
            </a:r>
          </a:p>
          <a:p>
            <a:pPr marL="457200" indent="-457200">
              <a:buAutoNum type="arabicPeriod"/>
            </a:pPr>
            <a:r>
              <a:rPr lang="en-US" dirty="0" smtClean="0"/>
              <a:t>Excessive loss of system pressure</a:t>
            </a:r>
          </a:p>
          <a:p>
            <a:pPr marL="457200" indent="-457200">
              <a:buAutoNum type="arabicPeriod"/>
            </a:pPr>
            <a:r>
              <a:rPr lang="en-US" dirty="0" smtClean="0"/>
              <a:t>Sharp rise in oil temperature.</a:t>
            </a:r>
          </a:p>
          <a:p>
            <a:pPr marL="457200" indent="-457200">
              <a:buAutoNum type="arabicPeriod"/>
            </a:pPr>
            <a:r>
              <a:rPr lang="en-US" dirty="0" smtClean="0"/>
              <a:t>Reduced speed of machine tool elements.</a:t>
            </a:r>
          </a:p>
          <a:p>
            <a:pPr marL="457200" indent="-457200">
              <a:buAutoNum type="arabicPeriod"/>
            </a:pPr>
            <a:r>
              <a:rPr lang="en-US" dirty="0" smtClean="0"/>
              <a:t>Cavitaion of pump.</a:t>
            </a:r>
          </a:p>
          <a:p>
            <a:pPr marL="457200" indent="-457200">
              <a:buAutoNum type="arabicPeriod"/>
            </a:pPr>
            <a:r>
              <a:rPr lang="en-US" dirty="0" smtClean="0"/>
              <a:t>Poor oil life.</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visual checks of oil</a:t>
            </a:r>
            <a:endParaRPr lang="en-US" dirty="0"/>
          </a:p>
        </p:txBody>
      </p:sp>
      <p:sp>
        <p:nvSpPr>
          <p:cNvPr id="3" name="Content Placeholder 2"/>
          <p:cNvSpPr>
            <a:spLocks noGrp="1"/>
          </p:cNvSpPr>
          <p:nvPr>
            <p:ph idx="1"/>
          </p:nvPr>
        </p:nvSpPr>
        <p:spPr/>
        <p:txBody>
          <a:bodyPr>
            <a:normAutofit fontScale="70000" lnSpcReduction="20000"/>
          </a:bodyPr>
          <a:lstStyle/>
          <a:p>
            <a:pPr marL="457200" indent="-457200">
              <a:buAutoNum type="arabicPeriod"/>
            </a:pPr>
            <a:r>
              <a:rPr lang="en-US" dirty="0" smtClean="0"/>
              <a:t>Visual Appearance</a:t>
            </a:r>
          </a:p>
          <a:p>
            <a:pPr marL="457200" indent="-457200">
              <a:buAutoNum type="arabicPeriod"/>
            </a:pPr>
            <a:r>
              <a:rPr lang="en-US" dirty="0" smtClean="0"/>
              <a:t>Smelling</a:t>
            </a:r>
          </a:p>
          <a:p>
            <a:pPr marL="457200" indent="-457200">
              <a:buAutoNum type="arabicPeriod"/>
            </a:pPr>
            <a:r>
              <a:rPr lang="en-US" dirty="0" smtClean="0"/>
              <a:t>Viscosity</a:t>
            </a:r>
          </a:p>
          <a:p>
            <a:pPr marL="457200" indent="-457200">
              <a:buAutoNum type="arabicPeriod"/>
            </a:pPr>
            <a:r>
              <a:rPr lang="en-US" dirty="0" smtClean="0"/>
              <a:t>Tardiness</a:t>
            </a:r>
          </a:p>
          <a:p>
            <a:pPr marL="457200" indent="-457200">
              <a:buAutoNum type="arabicPeriod"/>
            </a:pPr>
            <a:r>
              <a:rPr lang="en-US" dirty="0" smtClean="0"/>
              <a:t>Oxidation</a:t>
            </a:r>
          </a:p>
          <a:p>
            <a:pPr marL="457200" indent="-457200">
              <a:buAutoNum type="arabicPeriod"/>
            </a:pPr>
            <a:r>
              <a:rPr lang="en-US" dirty="0" smtClean="0"/>
              <a:t>Acidity</a:t>
            </a:r>
          </a:p>
          <a:p>
            <a:pPr marL="457200" indent="-457200">
              <a:buAutoNum type="arabicPeriod"/>
            </a:pPr>
            <a:r>
              <a:rPr lang="en-US" dirty="0" smtClean="0"/>
              <a:t>Foaming</a:t>
            </a:r>
          </a:p>
          <a:p>
            <a:pPr marL="457200" indent="-457200">
              <a:buAutoNum type="arabicPeriod"/>
            </a:pPr>
            <a:r>
              <a:rPr lang="en-US" dirty="0" smtClean="0"/>
              <a:t>Water content</a:t>
            </a:r>
          </a:p>
          <a:p>
            <a:pPr marL="457200" indent="-457200">
              <a:buAutoNum type="arabicPeriod"/>
            </a:pPr>
            <a:r>
              <a:rPr lang="en-US" dirty="0" smtClean="0"/>
              <a:t>Solid content</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3A0BD6-5F45-4EE0-A477-4268E395EE58}"/>
              </a:ext>
            </a:extLst>
          </p:cNvPr>
          <p:cNvSpPr>
            <a:spLocks noGrp="1"/>
          </p:cNvSpPr>
          <p:nvPr>
            <p:ph type="title"/>
          </p:nvPr>
        </p:nvSpPr>
        <p:spPr/>
        <p:txBody>
          <a:bodyPr/>
          <a:lstStyle/>
          <a:p>
            <a:r>
              <a:rPr lang="en-US" dirty="0" smtClean="0"/>
              <a:t>Basic components of pneumatic system</a:t>
            </a:r>
            <a:endParaRPr lang="en-US" dirty="0"/>
          </a:p>
        </p:txBody>
      </p:sp>
      <p:pic>
        <p:nvPicPr>
          <p:cNvPr id="5" name="Content Placeholder 4">
            <a:extLst>
              <a:ext uri="{FF2B5EF4-FFF2-40B4-BE49-F238E27FC236}">
                <a16:creationId xmlns:a16="http://schemas.microsoft.com/office/drawing/2014/main" xmlns="" id="{26029AF2-1EE0-4B24-BCC0-1F091140873D}"/>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502222" y="2249488"/>
            <a:ext cx="5184382" cy="3541712"/>
          </a:xfrm>
        </p:spPr>
      </p:pic>
    </p:spTree>
    <p:extLst>
      <p:ext uri="{BB962C8B-B14F-4D97-AF65-F5344CB8AC3E}">
        <p14:creationId xmlns:p14="http://schemas.microsoft.com/office/powerpoint/2010/main" xmlns="" val="586611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FDFF3E-EAA1-43D9-A4BC-387407E6A1BC}"/>
              </a:ext>
            </a:extLst>
          </p:cNvPr>
          <p:cNvSpPr>
            <a:spLocks noGrp="1"/>
          </p:cNvSpPr>
          <p:nvPr>
            <p:ph type="title"/>
          </p:nvPr>
        </p:nvSpPr>
        <p:spPr/>
        <p:txBody>
          <a:bodyPr/>
          <a:lstStyle/>
          <a:p>
            <a:r>
              <a:rPr lang="en-US" dirty="0" smtClean="0"/>
              <a:t>Basic components of pneumatic system</a:t>
            </a:r>
            <a:endParaRPr lang="en-US" dirty="0"/>
          </a:p>
        </p:txBody>
      </p:sp>
      <p:sp>
        <p:nvSpPr>
          <p:cNvPr id="3" name="Content Placeholder 2">
            <a:extLst>
              <a:ext uri="{FF2B5EF4-FFF2-40B4-BE49-F238E27FC236}">
                <a16:creationId xmlns:a16="http://schemas.microsoft.com/office/drawing/2014/main" xmlns="" id="{57D2AB7B-D0B8-47BE-ACD6-22735B134636}"/>
              </a:ext>
            </a:extLst>
          </p:cNvPr>
          <p:cNvSpPr>
            <a:spLocks noGrp="1"/>
          </p:cNvSpPr>
          <p:nvPr>
            <p:ph idx="1"/>
          </p:nvPr>
        </p:nvSpPr>
        <p:spPr/>
        <p:txBody>
          <a:bodyPr>
            <a:normAutofit fontScale="85000" lnSpcReduction="20000"/>
          </a:bodyPr>
          <a:lstStyle/>
          <a:p>
            <a:pPr marL="457200" indent="-457200">
              <a:buAutoNum type="arabicPeriod"/>
            </a:pPr>
            <a:r>
              <a:rPr lang="en-US" dirty="0" smtClean="0"/>
              <a:t>Air Copressor</a:t>
            </a:r>
          </a:p>
          <a:p>
            <a:pPr marL="457200" indent="-457200">
              <a:buAutoNum type="arabicPeriod"/>
            </a:pPr>
            <a:r>
              <a:rPr lang="en-US" dirty="0" smtClean="0"/>
              <a:t>Relief Valve</a:t>
            </a:r>
          </a:p>
          <a:p>
            <a:pPr marL="457200" indent="-457200">
              <a:buAutoNum type="arabicPeriod"/>
            </a:pPr>
            <a:r>
              <a:rPr lang="en-US" dirty="0" smtClean="0"/>
              <a:t>Air Filter</a:t>
            </a:r>
          </a:p>
          <a:p>
            <a:pPr marL="457200" indent="-457200">
              <a:buAutoNum type="arabicPeriod"/>
            </a:pPr>
            <a:r>
              <a:rPr lang="en-US" dirty="0" smtClean="0"/>
              <a:t>Air Pressure regulator</a:t>
            </a:r>
          </a:p>
          <a:p>
            <a:pPr marL="457200" indent="-457200">
              <a:buAutoNum type="arabicPeriod"/>
            </a:pPr>
            <a:r>
              <a:rPr lang="en-US" dirty="0" smtClean="0"/>
              <a:t>Lubricator</a:t>
            </a:r>
          </a:p>
          <a:p>
            <a:pPr marL="457200" indent="-457200">
              <a:buAutoNum type="arabicPeriod"/>
            </a:pPr>
            <a:r>
              <a:rPr lang="en-US" dirty="0" smtClean="0"/>
              <a:t>Direction control valve</a:t>
            </a:r>
          </a:p>
          <a:p>
            <a:pPr marL="457200" indent="-457200">
              <a:buAutoNum type="arabicPeriod"/>
            </a:pPr>
            <a:r>
              <a:rPr lang="en-US" dirty="0" smtClean="0"/>
              <a:t>Cylinder</a:t>
            </a:r>
          </a:p>
          <a:p>
            <a:pPr marL="457200" indent="-457200">
              <a:buAutoNum type="arabicPeriod"/>
            </a:pPr>
            <a:r>
              <a:rPr lang="en-US" dirty="0" smtClean="0"/>
              <a:t>Functional control</a:t>
            </a:r>
          </a:p>
          <a:p>
            <a:pPr marL="457200" indent="-457200">
              <a:buNone/>
            </a:pPr>
            <a:endParaRPr lang="en-US" dirty="0"/>
          </a:p>
        </p:txBody>
      </p:sp>
    </p:spTree>
    <p:extLst>
      <p:ext uri="{BB962C8B-B14F-4D97-AF65-F5344CB8AC3E}">
        <p14:creationId xmlns:p14="http://schemas.microsoft.com/office/powerpoint/2010/main" xmlns="" val="33449865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xmlns=""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297</TotalTime>
  <Words>1739</Words>
  <Application>Microsoft Office PowerPoint</Application>
  <PresentationFormat>Custom</PresentationFormat>
  <Paragraphs>252</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Circuit</vt:lpstr>
      <vt:lpstr>                </vt:lpstr>
      <vt:lpstr>Pumps and water turbines</vt:lpstr>
      <vt:lpstr>Hydraulic Pump and turbine</vt:lpstr>
      <vt:lpstr>Reciprocating pump</vt:lpstr>
      <vt:lpstr>Single Acting reciprocating pump</vt:lpstr>
      <vt:lpstr>Centrifugal  pump</vt:lpstr>
      <vt:lpstr>Centrifugal pump</vt:lpstr>
      <vt:lpstr>Rotary pumps:- Vane pump</vt:lpstr>
      <vt:lpstr>Rotary pumps:- gear pump</vt:lpstr>
      <vt:lpstr>Rotary pumps:- Screw pump</vt:lpstr>
      <vt:lpstr>Important terms</vt:lpstr>
      <vt:lpstr>Comparison of reciprocating and centrifugal pump</vt:lpstr>
      <vt:lpstr>Turbine</vt:lpstr>
      <vt:lpstr>Classification of hydraulic turbines</vt:lpstr>
      <vt:lpstr>Impulse turbine vs reaction turbine</vt:lpstr>
      <vt:lpstr>Selection of turbines</vt:lpstr>
      <vt:lpstr>Pelton Wheel turbine</vt:lpstr>
      <vt:lpstr>Pelton wheel turbine</vt:lpstr>
      <vt:lpstr>Francis turbine</vt:lpstr>
      <vt:lpstr>Francis Turbine</vt:lpstr>
      <vt:lpstr>Kaplan turbine</vt:lpstr>
      <vt:lpstr>Oil power hydraulic and pneumatic systems</vt:lpstr>
      <vt:lpstr>Oil power hydraulics &amp; Pneumatics</vt:lpstr>
      <vt:lpstr>Merits &amp; Demerits of hydraulic system</vt:lpstr>
      <vt:lpstr>Application of oil power hydraulics</vt:lpstr>
      <vt:lpstr>Merits and Demerits of pneumatic system</vt:lpstr>
      <vt:lpstr>Applications of pneumatic system</vt:lpstr>
      <vt:lpstr>Basic components of hydraulic system</vt:lpstr>
      <vt:lpstr>Basic components of hydraulic system</vt:lpstr>
      <vt:lpstr>Hydraulic oil</vt:lpstr>
      <vt:lpstr>Types of minerals</vt:lpstr>
      <vt:lpstr>Properties of an ideal hydraulic oil</vt:lpstr>
      <vt:lpstr>Seals</vt:lpstr>
      <vt:lpstr>Classification of seals </vt:lpstr>
      <vt:lpstr>Types of oil seals</vt:lpstr>
      <vt:lpstr>Commonly used seal material</vt:lpstr>
      <vt:lpstr>Requirement of good sealing materials</vt:lpstr>
      <vt:lpstr>Common faults in hydraulic system</vt:lpstr>
      <vt:lpstr>Simple visual checks of oil</vt:lpstr>
      <vt:lpstr>Basic components of pneumatic system</vt:lpstr>
      <vt:lpstr>Basic components of pneumatic system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Naman</dc:creator>
  <cp:lastModifiedBy>Mr. Manish</cp:lastModifiedBy>
  <cp:revision>42</cp:revision>
  <dcterms:created xsi:type="dcterms:W3CDTF">2020-03-19T15:13:58Z</dcterms:created>
  <dcterms:modified xsi:type="dcterms:W3CDTF">2025-03-31T06:40:12Z</dcterms:modified>
</cp:coreProperties>
</file>